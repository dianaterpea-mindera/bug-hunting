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Întreabă grăbita: „Ce credeți că ați făcut azi, pe scurt?”</a:t>
            </a:r>
          </a:p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Lasă-i să zică „am căutat greșeli / probleme pe ecrane”.</a:t>
            </a:r>
          </a:p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Spune că aveți o surpriză: meseria pe care ați practicat-o are un nume.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Explică pe scurt: înainte ca o aplicație să ajungă pe telefonul lor, cineva o „vânează” de greșeli.</a:t>
            </a:r>
          </a:p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QA = Quality Assurance = „ne asigurăm că e de calitate”.</a:t>
            </a:r>
          </a:p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În joc ați fost exact echipa de QA din Insula după furtună.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Poveste scurtă: acum mult timp, un gândac real a stricat un computer — de-asta zicem „bug”.</a:t>
            </a:r>
          </a:p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În joc le-ați zis „probleme”. În job se numesc bug-uri.</a:t>
            </a:r>
          </a:p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Întreabă: „Cui i s-a blocat un joc / un story / o temă online?”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Arată pe ecran (sau pe Review) un raport al lor: selecție + text.</a:t>
            </a:r>
          </a:p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Leagă fiecare pas: observat = bug detection; marcat = localizare; screenshot = evidence; textul = bug report.</a:t>
            </a:r>
          </a:p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„Ce ar fi trebuit” vs „ce s-a întâmplat” = expected vs actual.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Dacă ai al doilea ecran: deschide Mod Review → scenele 1, 3, 10.</a:t>
            </a:r>
          </a:p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Spune: uneori bug-ul e o nepotrivire între ce scrie și ce vezi.</a:t>
            </a:r>
          </a:p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În QA: verificăm UI-ul și datele — nu doar „merge butonul?”, ci „are sens ce scrie?”.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Review: scenele 5, 4, 8 — sau povestește din memorie.</a:t>
            </a:r>
          </a:p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Astea sunt bug-uri de logică / stare: programul „crede” ceva greșit.</a:t>
            </a:r>
          </a:p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QA apasă, numără, schimbă filtrele — exact ce ați făcut voi.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Scenele 6, 11, 12 — perfecte pentru „nu crede orbeste ecranul”.</a:t>
            </a:r>
          </a:p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Mesaj: un QA bun e curajos să zică „asta nu e corect”, chiar dacă aplicația arată un bife verde.</a:t>
            </a:r>
          </a:p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În viața reală: alerte false, mesaje de succes greșite, poze greșit etichetate.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Nu numi branduri — vorbește generic: joc, chat, catalog, magazin în app.</a:t>
            </a:r>
          </a:p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Lasă 20–30 secunde: „Ridicați mâna dacă vi s-a întâmplat măcar unul.”</a:t>
            </a:r>
          </a:p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QA testează exact astea înainte să ajungă la milioane de utilizatori.</a:t>
            </a:r>
          </a:p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Leagă de joc: „Succes pe ecran ≠ adevăr” — ca la Ruxi / bot / poza de eliberare.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Nu e doar „apasă random”: e ca o misiune cu obiective — ca ecranele voastre.</a:t>
            </a:r>
          </a:p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După ce developerii repară, QA verifică din nou (retest).</a:t>
            </a:r>
          </a:p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Nu trebuie să fii „cel mai bun la mate” — trebuie să fii curios și clar când explici.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Reia 1–2 exemple de pe slide-ul anterior (joc, catalog, plată).</a:t>
            </a:r>
          </a:p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Un bug mic pe ecran poate ascunde o problemă mare în spate.</a:t>
            </a:r>
          </a:p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În Insula după furtună ați protejat „utilizatorii” de pe insulă — în job protejezi utilizatori reali.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Amintește-le: greșelile la selecție nu le-au luat stele — în QA e normal să explorezi.</a:t>
            </a:r>
          </a:p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Raportul bun = colegul care repară înțelege din prima.</a:t>
            </a:r>
          </a:p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Întreabă: „Care bug v-a plăcut cel mai mult să-l găsiți?”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Ton ușor, fără presiune: e o meserie reală, cu salariu, echipe, proiecte.</a:t>
            </a:r>
          </a:p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Poți menționa pe scurt că există cursuri / licee IT / facultăți — fără listă lungă.</a:t>
            </a:r>
          </a:p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Închide cu: „Azi ați fost deja junior QA în Insula după furtună.”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Lasă 2–3 minute pentru întrebări.</a:t>
            </a:r>
          </a:p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Dacă se blochează: „Care a fost cel mai sneaky bug?” / „Ce ați verifica voi într-un joc sau la catalogul online?”</a:t>
            </a:r>
          </a:p>
          <a:p>
            <a:r>
              <a:rPr sz="1400" b="0" i="0">
                <a:solidFill>
                  <a:srgbClr val="1A2B2E"/>
                </a:solidFill>
                <a:latin typeface="Avenir Next"/>
              </a:rPr>
              <a:t>• Mulțumește-le și trimite-i înapoi la ecranul de start când termini.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60320" y="-1280160"/>
            <a:ext cx="6858000" cy="3108960"/>
          </a:xfrm>
          <a:prstGeom prst="ellipse">
            <a:avLst/>
          </a:prstGeom>
          <a:solidFill>
            <a:srgbClr val="D4EEF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4572000"/>
            <a:ext cx="4114800" cy="2926080"/>
          </a:xfrm>
          <a:prstGeom prst="ellipse">
            <a:avLst/>
          </a:prstGeom>
          <a:solidFill>
            <a:srgbClr val="FBEBE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4937760"/>
            <a:ext cx="3474720" cy="2560320"/>
          </a:xfrm>
          <a:prstGeom prst="ellipse">
            <a:avLst/>
          </a:prstGeom>
          <a:solidFill>
            <a:srgbClr val="E3F5E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A9AAD"/>
                </a:solidFill>
                <a:latin typeface="Avenir Next"/>
              </a:rPr>
              <a:t>DUPĂ MISIUNE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B3D4A"/>
                </a:solidFill>
                <a:latin typeface="Georgia"/>
              </a:rPr>
              <a:t>Ați salvat animale… sau?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965960"/>
            <a:ext cx="4297680" cy="3840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A2B2E"/>
                </a:solidFill>
                <a:latin typeface="Avenir Next"/>
              </a:rPr>
              <a:t>🐢  🦜  🦊</a:t>
            </a:r>
          </a:p>
          <a:p>
            <a:pPr algn="ctr">
              <a:spcBef>
                <a:spcPts val="1400"/>
              </a:spcBef>
              <a:spcAft>
                <a:spcPts val="0"/>
              </a:spcAft>
            </a:pPr>
            <a:r>
              <a:rPr sz="2200" b="1" i="0">
                <a:solidFill>
                  <a:srgbClr val="0B3D4A"/>
                </a:solidFill>
                <a:latin typeface="Georgia"/>
              </a:rPr>
              <a:t>Ce ați crezut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5A6E72"/>
                </a:solidFill>
                <a:latin typeface="Avenir Next"/>
              </a:rPr>
              <a:t>Salvatori în
Insula după furtună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0" y="3383280"/>
            <a:ext cx="960120" cy="96012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venir Next"/>
              </a:rPr>
              <a:t>VS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965960"/>
            <a:ext cx="4297680" cy="3840480"/>
          </a:xfrm>
          <a:prstGeom prst="roundRect">
            <a:avLst>
              <a:gd name="adj" fmla="val 15000"/>
            </a:avLst>
          </a:prstGeom>
          <a:solidFill>
            <a:srgbClr val="0B3D4A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E07A5F"/>
                </a:solidFill>
                <a:latin typeface="Georgia"/>
              </a:rPr>
              <a:t>?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Ce ați făcut de fapt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E8F6F4"/>
                </a:solidFill>
                <a:latin typeface="Avenir Next"/>
              </a:rPr>
              <a:t>O meserie reală
din IT…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60320" y="-1280160"/>
            <a:ext cx="6858000" cy="3108960"/>
          </a:xfrm>
          <a:prstGeom prst="ellipse">
            <a:avLst/>
          </a:prstGeom>
          <a:solidFill>
            <a:srgbClr val="D4EEF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4572000"/>
            <a:ext cx="4114800" cy="2926080"/>
          </a:xfrm>
          <a:prstGeom prst="ellipse">
            <a:avLst/>
          </a:prstGeom>
          <a:solidFill>
            <a:srgbClr val="FBEBE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4937760"/>
            <a:ext cx="3474720" cy="2560320"/>
          </a:xfrm>
          <a:prstGeom prst="ellipse">
            <a:avLst/>
          </a:prstGeom>
          <a:solidFill>
            <a:srgbClr val="E3F5E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A9AAD"/>
                </a:solidFill>
                <a:latin typeface="Avenir Next"/>
              </a:rPr>
              <a:t>REVELAȚIE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B3D4A"/>
                </a:solidFill>
                <a:latin typeface="Georgia"/>
              </a:rPr>
              <a:t>Ați făcut Software Testing</a:t>
            </a:r>
          </a:p>
        </p:txBody>
      </p:sp>
      <p:sp>
        <p:nvSpPr>
          <p:cNvPr id="8" name="Oval 7"/>
          <p:cNvSpPr/>
          <p:nvPr/>
        </p:nvSpPr>
        <p:spPr>
          <a:xfrm>
            <a:off x="2194560" y="2286000"/>
            <a:ext cx="2377440" cy="2377440"/>
          </a:xfrm>
          <a:prstGeom prst="ellipse">
            <a:avLst/>
          </a:prstGeom>
          <a:solidFill>
            <a:srgbClr val="3A9AAD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00" b="0" i="0">
                <a:solidFill>
                  <a:srgbClr val="FFFFFF"/>
                </a:solidFill>
                <a:latin typeface="Avenir Next"/>
              </a:rPr>
              <a:t>🐞</a:t>
            </a:r>
          </a:p>
        </p:txBody>
      </p:sp>
      <p:sp>
        <p:nvSpPr>
          <p:cNvPr id="9" name="Rounded Rectangle 8"/>
          <p:cNvSpPr/>
          <p:nvPr/>
        </p:nvSpPr>
        <p:spPr>
          <a:xfrm rot="2400000">
            <a:off x="4114800" y="4160520"/>
            <a:ext cx="1234440" cy="347472"/>
          </a:xfrm>
          <a:prstGeom prst="round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0" y="2331720"/>
            <a:ext cx="512064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6B7A"/>
                </a:solidFill>
                <a:latin typeface="Georgia"/>
              </a:rPr>
              <a:t>QA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2000" b="1" i="0">
                <a:solidFill>
                  <a:srgbClr val="0B3D4A"/>
                </a:solidFill>
                <a:latin typeface="Avenir Next"/>
              </a:rPr>
              <a:t>Quality Assurance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5A6E72"/>
                </a:solidFill>
                <a:latin typeface="Avenir Next"/>
              </a:rPr>
              <a:t>Vânători de bug-uri profesioniști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4937760"/>
            <a:ext cx="3657600" cy="640080"/>
          </a:xfrm>
          <a:prstGeom prst="roundRect">
            <a:avLst>
              <a:gd name="adj" fmla="val 20000"/>
            </a:avLst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venir Next"/>
              </a:rPr>
              <a:t>CERTIFICAT DETECTIV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60320" y="-1280160"/>
            <a:ext cx="6858000" cy="3108960"/>
          </a:xfrm>
          <a:prstGeom prst="ellipse">
            <a:avLst/>
          </a:prstGeom>
          <a:solidFill>
            <a:srgbClr val="D4EEF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4572000"/>
            <a:ext cx="4114800" cy="2926080"/>
          </a:xfrm>
          <a:prstGeom prst="ellipse">
            <a:avLst/>
          </a:prstGeom>
          <a:solidFill>
            <a:srgbClr val="FBEBE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4937760"/>
            <a:ext cx="3474720" cy="2560320"/>
          </a:xfrm>
          <a:prstGeom prst="ellipse">
            <a:avLst/>
          </a:prstGeom>
          <a:solidFill>
            <a:srgbClr val="E3F5E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A9AAD"/>
                </a:solidFill>
                <a:latin typeface="Avenir Next"/>
              </a:rPr>
              <a:t>VOCABULAR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B3D4A"/>
                </a:solidFill>
                <a:latin typeface="Georgia"/>
              </a:rPr>
              <a:t>De unde vine „bug”?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965960"/>
            <a:ext cx="4389120" cy="3840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74519" y="2423160"/>
            <a:ext cx="2743200" cy="1965960"/>
          </a:xfrm>
          <a:prstGeom prst="roundRect">
            <a:avLst>
              <a:gd name="adj" fmla="val 10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Avenir Next"/>
              </a:rPr>
              <a:t>🐛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400" b="1" i="0">
                <a:solidFill>
                  <a:srgbClr val="E07A5F"/>
                </a:solidFill>
                <a:latin typeface="Avenir Next"/>
              </a:rPr>
              <a:t>ERROR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4434840"/>
            <a:ext cx="1828800" cy="201168"/>
          </a:xfrm>
          <a:prstGeom prst="round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80060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5A6E72"/>
                </a:solidFill>
                <a:latin typeface="Avenir Next"/>
              </a:rPr>
              <a:t>Un gândac real a stricat
un computer vechi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33832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A9AAD"/>
                </a:solidFill>
                <a:latin typeface="Avenir Next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965960"/>
            <a:ext cx="4389120" cy="3840480"/>
          </a:xfrm>
          <a:prstGeom prst="roundRect">
            <a:avLst>
              <a:gd name="adj" fmla="val 15000"/>
            </a:avLst>
          </a:prstGeom>
          <a:solidFill>
            <a:srgbClr val="D4EEF0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1A2B2E"/>
                </a:solidFill>
                <a:latin typeface="Avenir Next"/>
              </a:rPr>
              <a:t>💻💥</a:t>
            </a:r>
          </a:p>
          <a:p>
            <a:pPr algn="ctr">
              <a:spcBef>
                <a:spcPts val="1400"/>
              </a:spcBef>
              <a:spcAft>
                <a:spcPts val="0"/>
              </a:spcAft>
            </a:pPr>
            <a:r>
              <a:rPr sz="2600" b="1" i="0">
                <a:solidFill>
                  <a:srgbClr val="0B3D4A"/>
                </a:solidFill>
                <a:latin typeface="Georgia"/>
              </a:rPr>
              <a:t>Azi = „bug”</a:t>
            </a:r>
          </a:p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5A6E72"/>
                </a:solidFill>
                <a:latin typeface="Avenir Next"/>
              </a:rPr>
              <a:t>Orice greșeală în program
— de găsit și reparat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60320" y="-1280160"/>
            <a:ext cx="6858000" cy="3108960"/>
          </a:xfrm>
          <a:prstGeom prst="ellipse">
            <a:avLst/>
          </a:prstGeom>
          <a:solidFill>
            <a:srgbClr val="D4EEF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4572000"/>
            <a:ext cx="4114800" cy="2926080"/>
          </a:xfrm>
          <a:prstGeom prst="ellipse">
            <a:avLst/>
          </a:prstGeom>
          <a:solidFill>
            <a:srgbClr val="FBEBE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4937760"/>
            <a:ext cx="3474720" cy="2560320"/>
          </a:xfrm>
          <a:prstGeom prst="ellipse">
            <a:avLst/>
          </a:prstGeom>
          <a:solidFill>
            <a:srgbClr val="E3F5E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A9AAD"/>
                </a:solidFill>
                <a:latin typeface="Avenir Next"/>
              </a:rPr>
              <a:t>JOC →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B3D4A"/>
                </a:solidFill>
                <a:latin typeface="Georgia"/>
              </a:rPr>
              <a:t>Aceiași pași, alt vocabular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011680"/>
            <a:ext cx="2194560" cy="1554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A2B2E"/>
                </a:solidFill>
                <a:latin typeface="Avenir Next"/>
              </a:rPr>
              <a:t>👀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300" b="1" i="0">
                <a:solidFill>
                  <a:srgbClr val="0B3D4A"/>
                </a:solidFill>
                <a:latin typeface="Avenir Next"/>
              </a:rPr>
              <a:t>Ai observat</a:t>
            </a:r>
          </a:p>
        </p:txBody>
      </p:sp>
      <p:sp>
        <p:nvSpPr>
          <p:cNvPr id="9" name="Oval 8"/>
          <p:cNvSpPr/>
          <p:nvPr/>
        </p:nvSpPr>
        <p:spPr>
          <a:xfrm>
            <a:off x="1234440" y="3703320"/>
            <a:ext cx="502920" cy="502920"/>
          </a:xfrm>
          <a:prstGeom prst="ellipse">
            <a:avLst/>
          </a:prstGeom>
          <a:solidFill>
            <a:srgbClr val="3A9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venir Next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4389120"/>
            <a:ext cx="2194560" cy="1417320"/>
          </a:xfrm>
          <a:prstGeom prst="roundRect">
            <a:avLst>
              <a:gd name="adj" fmla="val 15000"/>
            </a:avLst>
          </a:prstGeom>
          <a:solidFill>
            <a:srgbClr val="0B3D4A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venir Next"/>
              </a:rPr>
              <a:t>Bug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011680"/>
            <a:ext cx="2194560" cy="1554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A2B2E"/>
                </a:solidFill>
                <a:latin typeface="Avenir Next"/>
              </a:rPr>
              <a:t>🎯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300" b="1" i="0">
                <a:solidFill>
                  <a:srgbClr val="0B3D4A"/>
                </a:solidFill>
                <a:latin typeface="Avenir Next"/>
              </a:rPr>
              <a:t>Ai marcat zona</a:t>
            </a:r>
          </a:p>
        </p:txBody>
      </p:sp>
      <p:sp>
        <p:nvSpPr>
          <p:cNvPr id="12" name="Oval 11"/>
          <p:cNvSpPr/>
          <p:nvPr/>
        </p:nvSpPr>
        <p:spPr>
          <a:xfrm>
            <a:off x="3566160" y="3703320"/>
            <a:ext cx="502920" cy="502920"/>
          </a:xfrm>
          <a:prstGeom prst="ellipse">
            <a:avLst/>
          </a:prstGeom>
          <a:solidFill>
            <a:srgbClr val="3A9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venir Next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4389120"/>
            <a:ext cx="2194560" cy="1417320"/>
          </a:xfrm>
          <a:prstGeom prst="roundRect">
            <a:avLst>
              <a:gd name="adj" fmla="val 15000"/>
            </a:avLst>
          </a:prstGeom>
          <a:solidFill>
            <a:srgbClr val="0B3D4A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venir Next"/>
              </a:rPr>
              <a:t>Localizare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2011680"/>
            <a:ext cx="2194560" cy="1554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A2B2E"/>
                </a:solidFill>
                <a:latin typeface="Avenir Next"/>
              </a:rPr>
              <a:t>📸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300" b="1" i="0">
                <a:solidFill>
                  <a:srgbClr val="0B3D4A"/>
                </a:solidFill>
                <a:latin typeface="Avenir Next"/>
              </a:rPr>
              <a:t>Screenshot</a:t>
            </a:r>
          </a:p>
        </p:txBody>
      </p:sp>
      <p:sp>
        <p:nvSpPr>
          <p:cNvPr id="15" name="Oval 14"/>
          <p:cNvSpPr/>
          <p:nvPr/>
        </p:nvSpPr>
        <p:spPr>
          <a:xfrm>
            <a:off x="5897880" y="3703320"/>
            <a:ext cx="502920" cy="502920"/>
          </a:xfrm>
          <a:prstGeom prst="ellipse">
            <a:avLst/>
          </a:prstGeom>
          <a:solidFill>
            <a:srgbClr val="3A9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venir Next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4389120"/>
            <a:ext cx="2194560" cy="1417320"/>
          </a:xfrm>
          <a:prstGeom prst="roundRect">
            <a:avLst>
              <a:gd name="adj" fmla="val 15000"/>
            </a:avLst>
          </a:prstGeom>
          <a:solidFill>
            <a:srgbClr val="0B3D4A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venir Next"/>
              </a:rPr>
              <a:t>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011680"/>
            <a:ext cx="2194560" cy="1554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A2B2E"/>
                </a:solidFill>
                <a:latin typeface="Avenir Next"/>
              </a:rPr>
              <a:t>✍️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300" b="1" i="0">
                <a:solidFill>
                  <a:srgbClr val="0B3D4A"/>
                </a:solidFill>
                <a:latin typeface="Avenir Next"/>
              </a:rPr>
              <a:t>Ai raportat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0" y="3703320"/>
            <a:ext cx="502920" cy="502920"/>
          </a:xfrm>
          <a:prstGeom prst="ellipse">
            <a:avLst/>
          </a:prstGeom>
          <a:solidFill>
            <a:srgbClr val="3A9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venir Next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4389120"/>
            <a:ext cx="2194560" cy="1417320"/>
          </a:xfrm>
          <a:prstGeom prst="roundRect">
            <a:avLst>
              <a:gd name="adj" fmla="val 15000"/>
            </a:avLst>
          </a:prstGeom>
          <a:solidFill>
            <a:srgbClr val="0B3D4A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venir Next"/>
              </a:rPr>
              <a:t>Bug report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59" y="2011680"/>
            <a:ext cx="2194560" cy="1554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A2B2E"/>
                </a:solidFill>
                <a:latin typeface="Avenir Next"/>
              </a:rPr>
              <a:t>⚖️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300" b="1" i="0">
                <a:solidFill>
                  <a:srgbClr val="0B3D4A"/>
                </a:solidFill>
                <a:latin typeface="Avenir Next"/>
              </a:rPr>
              <a:t>Așteptat vs real</a:t>
            </a:r>
          </a:p>
        </p:txBody>
      </p:sp>
      <p:sp>
        <p:nvSpPr>
          <p:cNvPr id="21" name="Oval 20"/>
          <p:cNvSpPr/>
          <p:nvPr/>
        </p:nvSpPr>
        <p:spPr>
          <a:xfrm>
            <a:off x="10561319" y="3703320"/>
            <a:ext cx="502920" cy="502920"/>
          </a:xfrm>
          <a:prstGeom prst="ellipse">
            <a:avLst/>
          </a:prstGeom>
          <a:solidFill>
            <a:srgbClr val="3A9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venir Next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59" y="4389120"/>
            <a:ext cx="2194560" cy="1417320"/>
          </a:xfrm>
          <a:prstGeom prst="roundRect">
            <a:avLst>
              <a:gd name="adj" fmla="val 15000"/>
            </a:avLst>
          </a:prstGeom>
          <a:solidFill>
            <a:srgbClr val="0B3D4A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venir Next"/>
              </a:rPr>
              <a:t>Expected / Actual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60320" y="-1280160"/>
            <a:ext cx="6858000" cy="3108960"/>
          </a:xfrm>
          <a:prstGeom prst="ellipse">
            <a:avLst/>
          </a:prstGeom>
          <a:solidFill>
            <a:srgbClr val="D4EEF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4572000"/>
            <a:ext cx="4114800" cy="2926080"/>
          </a:xfrm>
          <a:prstGeom prst="ellipse">
            <a:avLst/>
          </a:prstGeom>
          <a:solidFill>
            <a:srgbClr val="FBEBE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4937760"/>
            <a:ext cx="3474720" cy="2560320"/>
          </a:xfrm>
          <a:prstGeom prst="ellipse">
            <a:avLst/>
          </a:prstGeom>
          <a:solidFill>
            <a:srgbClr val="E3F5E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A9AAD"/>
                </a:solidFill>
                <a:latin typeface="Avenir Next"/>
              </a:rPr>
              <a:t>BUG-URI DIN MISIUNE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B3D4A"/>
                </a:solidFill>
                <a:latin typeface="Georgia"/>
              </a:rPr>
              <a:t>Când imaginea minte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3657600" cy="4114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54480" y="205740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3A9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Scena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1417320" cy="1828800"/>
          </a:xfrm>
          <a:prstGeom prst="roundRect">
            <a:avLst>
              <a:gd name="adj" fmla="val 15000"/>
            </a:avLst>
          </a:prstGeom>
          <a:solidFill>
            <a:srgbClr val="D4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A2B2E"/>
                </a:solidFill>
                <a:latin typeface="Avenir Next"/>
              </a:rPr>
              <a:t>🚤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100" b="1" i="0">
                <a:solidFill>
                  <a:srgbClr val="0B3D4A"/>
                </a:solidFill>
                <a:latin typeface="Avenir Next"/>
              </a:rPr>
              <a:t>„Ai ajuns cu barca”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07A5F"/>
                </a:solidFill>
                <a:latin typeface="Avenir Next"/>
              </a:rPr>
              <a:t>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2606040"/>
            <a:ext cx="1417320" cy="1828800"/>
          </a:xfrm>
          <a:prstGeom prst="roundRect">
            <a:avLst>
              <a:gd name="adj" fmla="val 15000"/>
            </a:avLst>
          </a:prstGeom>
          <a:solidFill>
            <a:srgbClr val="F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A2B2E"/>
                </a:solidFill>
                <a:latin typeface="Avenir Next"/>
              </a:rPr>
              <a:t>🚗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100" b="1" i="0">
                <a:solidFill>
                  <a:srgbClr val="C45C42"/>
                </a:solidFill>
                <a:latin typeface="Avenir Next"/>
              </a:rPr>
              <a:t>Pe ecran: mașină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09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A6E72"/>
                </a:solidFill>
                <a:latin typeface="Avenir Next"/>
              </a:rPr>
              <a:t>Text vs iconiță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74519"/>
            <a:ext cx="3657600" cy="4114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94960" y="205740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3A9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Scena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606040"/>
            <a:ext cx="1417320" cy="1828800"/>
          </a:xfrm>
          <a:prstGeom prst="roundRect">
            <a:avLst>
              <a:gd name="adj" fmla="val 15000"/>
            </a:avLst>
          </a:prstGeom>
          <a:solidFill>
            <a:srgbClr val="D4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A2B2E"/>
                </a:solidFill>
                <a:latin typeface="Avenir Next"/>
              </a:rPr>
              <a:t>🐢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100" b="1" i="0">
                <a:solidFill>
                  <a:srgbClr val="0B3D4A"/>
                </a:solidFill>
                <a:latin typeface="Avenir Next"/>
              </a:rPr>
              <a:t>Tessa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07A5F"/>
                </a:solidFill>
                <a:latin typeface="Avenir Next"/>
              </a:rPr>
              <a:t>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606040"/>
            <a:ext cx="1417320" cy="1828800"/>
          </a:xfrm>
          <a:prstGeom prst="roundRect">
            <a:avLst>
              <a:gd name="adj" fmla="val 15000"/>
            </a:avLst>
          </a:prstGeom>
          <a:solidFill>
            <a:srgbClr val="F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A2B2E"/>
                </a:solidFill>
                <a:latin typeface="Avenir Next"/>
              </a:rPr>
              <a:t>📋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100" b="1" i="0">
                <a:solidFill>
                  <a:srgbClr val="C45C42"/>
                </a:solidFill>
                <a:latin typeface="Avenir Next"/>
              </a:rPr>
              <a:t>Fișa zice Tina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709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A6E72"/>
                </a:solidFill>
                <a:latin typeface="Avenir Next"/>
              </a:rPr>
              <a:t>Nume greșit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1874519"/>
            <a:ext cx="3657600" cy="4114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35440" y="205740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3A9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Scena 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2606040"/>
            <a:ext cx="1417320" cy="1828800"/>
          </a:xfrm>
          <a:prstGeom prst="roundRect">
            <a:avLst>
              <a:gd name="adj" fmla="val 15000"/>
            </a:avLst>
          </a:prstGeom>
          <a:solidFill>
            <a:srgbClr val="D4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A2B2E"/>
                </a:solidFill>
                <a:latin typeface="Avenir Next"/>
              </a:rPr>
              <a:t>🦜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100" b="1" i="0">
                <a:solidFill>
                  <a:srgbClr val="0B3D4A"/>
                </a:solidFill>
                <a:latin typeface="Avenir Next"/>
              </a:rPr>
              <a:t>Kiko = papagal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07A5F"/>
                </a:solidFill>
                <a:latin typeface="Avenir Next"/>
              </a:rPr>
              <a:t>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95560" y="2606040"/>
            <a:ext cx="1417320" cy="1828800"/>
          </a:xfrm>
          <a:prstGeom prst="roundRect">
            <a:avLst>
              <a:gd name="adj" fmla="val 15000"/>
            </a:avLst>
          </a:prstGeom>
          <a:solidFill>
            <a:srgbClr val="F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A2B2E"/>
                </a:solidFill>
                <a:latin typeface="Avenir Next"/>
              </a:rPr>
              <a:t>🙈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100" b="1" i="0">
                <a:solidFill>
                  <a:srgbClr val="C45C42"/>
                </a:solidFill>
                <a:latin typeface="Avenir Next"/>
              </a:rPr>
              <a:t>Etichetă: Maimuță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4709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A6E72"/>
                </a:solidFill>
                <a:latin typeface="Avenir Next"/>
              </a:rPr>
              <a:t>Specie greșită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60320" y="-1280160"/>
            <a:ext cx="6858000" cy="3108960"/>
          </a:xfrm>
          <a:prstGeom prst="ellipse">
            <a:avLst/>
          </a:prstGeom>
          <a:solidFill>
            <a:srgbClr val="D4EEF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4572000"/>
            <a:ext cx="4114800" cy="2926080"/>
          </a:xfrm>
          <a:prstGeom prst="ellipse">
            <a:avLst/>
          </a:prstGeom>
          <a:solidFill>
            <a:srgbClr val="FBEBE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4937760"/>
            <a:ext cx="3474720" cy="2560320"/>
          </a:xfrm>
          <a:prstGeom prst="ellipse">
            <a:avLst/>
          </a:prstGeom>
          <a:solidFill>
            <a:srgbClr val="E3F5E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A9AAD"/>
                </a:solidFill>
                <a:latin typeface="Avenir Next"/>
              </a:rPr>
              <a:t>BUG-URI DIN MISIUNE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B3D4A"/>
                </a:solidFill>
                <a:latin typeface="Georgia"/>
              </a:rPr>
              <a:t>Când logica o ia razna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3657600" cy="40233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3D4A"/>
                </a:solidFill>
                <a:latin typeface="Georgia"/>
              </a:rPr>
              <a:t>➡️  Pădurea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0400"/>
            <a:ext cx="3108960" cy="1051560"/>
          </a:xfrm>
          <a:prstGeom prst="roundRect">
            <a:avLst>
              <a:gd name="adj" fmla="val 15000"/>
            </a:avLst>
          </a:prstGeom>
          <a:solidFill>
            <a:srgbClr val="E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6A4F"/>
                </a:solidFill>
                <a:latin typeface="Avenir Next"/>
              </a:rPr>
              <a:t>AR TREBUI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0B3D4A"/>
                </a:solidFill>
                <a:latin typeface="Avenir Next"/>
              </a:rPr>
              <a:t>Dreapta → Centru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434840"/>
            <a:ext cx="3108960" cy="1051560"/>
          </a:xfrm>
          <a:prstGeom prst="roundRect">
            <a:avLst>
              <a:gd name="adj" fmla="val 15000"/>
            </a:avLst>
          </a:prstGeom>
          <a:solidFill>
            <a:srgbClr val="F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42"/>
                </a:solidFill>
                <a:latin typeface="Avenir Next"/>
              </a:rPr>
              <a:t>ÎN JOC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0B3D4A"/>
                </a:solidFill>
                <a:latin typeface="Avenir Next"/>
              </a:rPr>
              <a:t>Dreapta → Poiană 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920240"/>
            <a:ext cx="3657600" cy="40233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1031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3D4A"/>
                </a:solidFill>
                <a:latin typeface="Georgia"/>
              </a:rPr>
              <a:t>💧  Rucsacul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3200400"/>
            <a:ext cx="3108960" cy="1051560"/>
          </a:xfrm>
          <a:prstGeom prst="roundRect">
            <a:avLst>
              <a:gd name="adj" fmla="val 15000"/>
            </a:avLst>
          </a:prstGeom>
          <a:solidFill>
            <a:srgbClr val="E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6A4F"/>
                </a:solidFill>
                <a:latin typeface="Avenir Next"/>
              </a:rPr>
              <a:t>AR TREBUI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0B3D4A"/>
                </a:solidFill>
                <a:latin typeface="Avenir Next"/>
              </a:rPr>
              <a:t>3 sticle = ×3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4434840"/>
            <a:ext cx="3108960" cy="1051560"/>
          </a:xfrm>
          <a:prstGeom prst="roundRect">
            <a:avLst>
              <a:gd name="adj" fmla="val 15000"/>
            </a:avLst>
          </a:prstGeom>
          <a:solidFill>
            <a:srgbClr val="F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42"/>
                </a:solidFill>
                <a:latin typeface="Avenir Next"/>
              </a:rPr>
              <a:t>ÎN JOC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0B3D4A"/>
                </a:solidFill>
                <a:latin typeface="Avenir Next"/>
              </a:rPr>
              <a:t>Contorul rămâne ×2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920240"/>
            <a:ext cx="3657600" cy="40233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1031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3D4A"/>
                </a:solidFill>
                <a:latin typeface="Georgia"/>
              </a:rPr>
              <a:t>🏥  Filtrul „Toate”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3200400"/>
            <a:ext cx="3108960" cy="1051560"/>
          </a:xfrm>
          <a:prstGeom prst="roundRect">
            <a:avLst>
              <a:gd name="adj" fmla="val 15000"/>
            </a:avLst>
          </a:prstGeom>
          <a:solidFill>
            <a:srgbClr val="E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6A4F"/>
                </a:solidFill>
                <a:latin typeface="Avenir Next"/>
              </a:rPr>
              <a:t>AR TREBUI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0B3D4A"/>
                </a:solidFill>
                <a:latin typeface="Avenir Next"/>
              </a:rPr>
              <a:t>5 animale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4434840"/>
            <a:ext cx="3108960" cy="1051560"/>
          </a:xfrm>
          <a:prstGeom prst="roundRect">
            <a:avLst>
              <a:gd name="adj" fmla="val 15000"/>
            </a:avLst>
          </a:prstGeom>
          <a:solidFill>
            <a:srgbClr val="F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42"/>
                </a:solidFill>
                <a:latin typeface="Avenir Next"/>
              </a:rPr>
              <a:t>ÎN JOC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0B3D4A"/>
                </a:solidFill>
                <a:latin typeface="Avenir Next"/>
              </a:rPr>
              <a:t>4 pe listă — Pico 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60320" y="-1280160"/>
            <a:ext cx="6858000" cy="3108960"/>
          </a:xfrm>
          <a:prstGeom prst="ellipse">
            <a:avLst/>
          </a:prstGeom>
          <a:solidFill>
            <a:srgbClr val="D4EEF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4572000"/>
            <a:ext cx="4114800" cy="2926080"/>
          </a:xfrm>
          <a:prstGeom prst="ellipse">
            <a:avLst/>
          </a:prstGeom>
          <a:solidFill>
            <a:srgbClr val="FBEBE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4937760"/>
            <a:ext cx="3474720" cy="2560320"/>
          </a:xfrm>
          <a:prstGeom prst="ellipse">
            <a:avLst/>
          </a:prstGeom>
          <a:solidFill>
            <a:srgbClr val="E3F5E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A9AAD"/>
                </a:solidFill>
                <a:latin typeface="Avenir Next"/>
              </a:rPr>
              <a:t>BUG-URI DIN MISIUNE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B3D4A"/>
                </a:solidFill>
                <a:latin typeface="Georgia"/>
              </a:rPr>
              <a:t>Nu crede bifa verde!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3657600" cy="3840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377440"/>
            <a:ext cx="3108960" cy="1371600"/>
          </a:xfrm>
          <a:prstGeom prst="roundRect">
            <a:avLst>
              <a:gd name="adj" fmla="val 15000"/>
            </a:avLst>
          </a:prstGeom>
          <a:solidFill>
            <a:srgbClr val="E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6A4F"/>
                </a:solidFill>
                <a:latin typeface="Avenir Next"/>
              </a:rPr>
              <a:t>✓  PARE OK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500" b="1" i="0">
                <a:solidFill>
                  <a:srgbClr val="0B3D4A"/>
                </a:solidFill>
                <a:latin typeface="Avenir Next"/>
              </a:rPr>
              <a:t>„Gata, a băut apă”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977639"/>
            <a:ext cx="3108960" cy="1463040"/>
          </a:xfrm>
          <a:prstGeom prst="roundRect">
            <a:avLst>
              <a:gd name="adj" fmla="val 15000"/>
            </a:avLst>
          </a:prstGeom>
          <a:solidFill>
            <a:srgbClr val="F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5C42"/>
                </a:solidFill>
                <a:latin typeface="Avenir Next"/>
              </a:rPr>
              <a:t>🦊  REALITATEA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600" b="1" i="0">
                <a:solidFill>
                  <a:srgbClr val="0B3D4A"/>
                </a:solidFill>
                <a:latin typeface="Avenir Next"/>
              </a:rPr>
              <a:t>Ruxi e tot însetată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011680"/>
            <a:ext cx="3657600" cy="3840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2377440"/>
            <a:ext cx="3108960" cy="1371600"/>
          </a:xfrm>
          <a:prstGeom prst="roundRect">
            <a:avLst>
              <a:gd name="adj" fmla="val 15000"/>
            </a:avLst>
          </a:prstGeom>
          <a:solidFill>
            <a:srgbClr val="E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6A4F"/>
                </a:solidFill>
                <a:latin typeface="Avenir Next"/>
              </a:rPr>
              <a:t>✓  PARE OK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500" b="1" i="0">
                <a:solidFill>
                  <a:srgbClr val="0B3D4A"/>
                </a:solidFill>
                <a:latin typeface="Avenir Next"/>
              </a:rPr>
              <a:t>Bot: Habitat apt 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3977639"/>
            <a:ext cx="3108960" cy="1463040"/>
          </a:xfrm>
          <a:prstGeom prst="roundRect">
            <a:avLst>
              <a:gd name="adj" fmla="val 15000"/>
            </a:avLst>
          </a:prstGeom>
          <a:solidFill>
            <a:srgbClr val="F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5C42"/>
                </a:solidFill>
                <a:latin typeface="Avenir Next"/>
              </a:rPr>
              <a:t>🤖  REALITATEA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600" b="1" i="0">
                <a:solidFill>
                  <a:srgbClr val="0B3D4A"/>
                </a:solidFill>
                <a:latin typeface="Avenir Next"/>
              </a:rPr>
              <a:t>Dosarul are avertismente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2011680"/>
            <a:ext cx="3657600" cy="3840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58200" y="2377440"/>
            <a:ext cx="3108960" cy="1371600"/>
          </a:xfrm>
          <a:prstGeom prst="roundRect">
            <a:avLst>
              <a:gd name="adj" fmla="val 15000"/>
            </a:avLst>
          </a:prstGeom>
          <a:solidFill>
            <a:srgbClr val="E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6A4F"/>
                </a:solidFill>
                <a:latin typeface="Avenir Next"/>
              </a:rPr>
              <a:t>✓  PARE OK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500" b="1" i="0">
                <a:solidFill>
                  <a:srgbClr val="0B3D4A"/>
                </a:solidFill>
                <a:latin typeface="Avenir Next"/>
              </a:rPr>
              <a:t>„Eliberare 17:20”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3977639"/>
            <a:ext cx="3108960" cy="1463040"/>
          </a:xfrm>
          <a:prstGeom prst="roundRect">
            <a:avLst>
              <a:gd name="adj" fmla="val 15000"/>
            </a:avLst>
          </a:prstGeom>
          <a:solidFill>
            <a:srgbClr val="F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5C42"/>
                </a:solidFill>
                <a:latin typeface="Avenir Next"/>
              </a:rPr>
              <a:t>📸  REALITATEA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600" b="1" i="0">
                <a:solidFill>
                  <a:srgbClr val="0B3D4A"/>
                </a:solidFill>
                <a:latin typeface="Avenir Next"/>
              </a:rPr>
              <a:t>E poza de la prânz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60320" y="-1280160"/>
            <a:ext cx="6858000" cy="3108960"/>
          </a:xfrm>
          <a:prstGeom prst="ellipse">
            <a:avLst/>
          </a:prstGeom>
          <a:solidFill>
            <a:srgbClr val="D4EEF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4572000"/>
            <a:ext cx="4114800" cy="2926080"/>
          </a:xfrm>
          <a:prstGeom prst="ellipse">
            <a:avLst/>
          </a:prstGeom>
          <a:solidFill>
            <a:srgbClr val="FBEBE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4937760"/>
            <a:ext cx="3474720" cy="2560320"/>
          </a:xfrm>
          <a:prstGeom prst="ellipse">
            <a:avLst/>
          </a:prstGeom>
          <a:solidFill>
            <a:srgbClr val="E3F5E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A9AAD"/>
                </a:solidFill>
                <a:latin typeface="Avenir Next"/>
              </a:rPr>
              <a:t>VIAȚA TA = JOBUL DE 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B3D4A"/>
                </a:solidFill>
                <a:latin typeface="Georgia"/>
              </a:rPr>
              <a:t>Le-ai trăit deja pe telefon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6E72"/>
                </a:solidFill>
                <a:latin typeface="Avenir Next"/>
              </a:rPr>
              <a:t>Dacă ți s-a întâmplat — un QA ar fi trebuit să prindă asta înainte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011680"/>
            <a:ext cx="3703320" cy="2011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3D4A"/>
                </a:solidFill>
                <a:latin typeface="Georgia"/>
              </a:rPr>
              <a:t>🎮  Jocuri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5A6E72"/>
                </a:solidFill>
                <a:latin typeface="Avenir Next"/>
              </a:rPr>
              <a:t>Scorul nu se salvează / skin-ul nu apare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200" b="1" i="0">
                <a:solidFill>
                  <a:srgbClr val="1A6B7A"/>
                </a:solidFill>
                <a:latin typeface="Avenir Next"/>
              </a:rPr>
              <a:t>QA: „Ce se întâmplă după Continua?”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011680"/>
            <a:ext cx="3703320" cy="2011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3D4A"/>
                </a:solidFill>
                <a:latin typeface="Georgia"/>
              </a:rPr>
              <a:t>💬  Chat &amp; social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5A6E72"/>
                </a:solidFill>
                <a:latin typeface="Avenir Next"/>
              </a:rPr>
              <a:t>Mesaj dublu sau „trimis” nevăzut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200" b="1" i="0">
                <a:solidFill>
                  <a:srgbClr val="1A6B7A"/>
                </a:solidFill>
                <a:latin typeface="Avenir Next"/>
              </a:rPr>
              <a:t>QA: „Ce vede celălalt utilizator?”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2011680"/>
            <a:ext cx="3703320" cy="2011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3D4A"/>
                </a:solidFill>
                <a:latin typeface="Georgia"/>
              </a:rPr>
              <a:t>📚  Școală / teme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5A6E72"/>
                </a:solidFill>
                <a:latin typeface="Avenir Next"/>
              </a:rPr>
              <a:t>Ecran OK, la profesor nu e nimic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200" b="1" i="0">
                <a:solidFill>
                  <a:srgbClr val="1A6B7A"/>
                </a:solidFill>
                <a:latin typeface="Avenir Next"/>
              </a:rPr>
              <a:t>QA: „Succes pe ecran = realitate?”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206240"/>
            <a:ext cx="3703320" cy="2011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3D4A"/>
                </a:solidFill>
                <a:latin typeface="Georgia"/>
              </a:rPr>
              <a:t>🛒  Magazin în app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5A6E72"/>
                </a:solidFill>
                <a:latin typeface="Avenir Next"/>
              </a:rPr>
              <a:t>Ai plătit — itemul lipsește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200" b="1" i="0">
                <a:solidFill>
                  <a:srgbClr val="1A6B7A"/>
                </a:solidFill>
                <a:latin typeface="Avenir Next"/>
              </a:rPr>
              <a:t>QA: „Banii au plecat, produsul a venit?”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206240"/>
            <a:ext cx="3703320" cy="2011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3D4A"/>
                </a:solidFill>
                <a:latin typeface="Georgia"/>
              </a:rPr>
              <a:t>🔔  Notificări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5A6E72"/>
                </a:solidFill>
                <a:latin typeface="Avenir Next"/>
              </a:rPr>
              <a:t>De 10 ori… sau deloc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200" b="1" i="0">
                <a:solidFill>
                  <a:srgbClr val="1A6B7A"/>
                </a:solidFill>
                <a:latin typeface="Avenir Next"/>
              </a:rPr>
              <a:t>QA: „Când e prea mult / puțin?”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4206240"/>
            <a:ext cx="3703320" cy="2011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3D4A"/>
                </a:solidFill>
                <a:latin typeface="Georgia"/>
              </a:rPr>
              <a:t>🚌  Hărți &amp; orare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5A6E72"/>
                </a:solidFill>
                <a:latin typeface="Avenir Next"/>
              </a:rPr>
              <a:t>„Vine în 2 min” de 15 minute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200" b="1" i="0">
                <a:solidFill>
                  <a:srgbClr val="1A6B7A"/>
                </a:solidFill>
                <a:latin typeface="Avenir Next"/>
              </a:rPr>
              <a:t>QA: „Informația e actualizată?”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60320" y="-1280160"/>
            <a:ext cx="6858000" cy="3108960"/>
          </a:xfrm>
          <a:prstGeom prst="ellipse">
            <a:avLst/>
          </a:prstGeom>
          <a:solidFill>
            <a:srgbClr val="D4EEF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4572000"/>
            <a:ext cx="4114800" cy="2926080"/>
          </a:xfrm>
          <a:prstGeom prst="ellipse">
            <a:avLst/>
          </a:prstGeom>
          <a:solidFill>
            <a:srgbClr val="FBEBE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4937760"/>
            <a:ext cx="3474720" cy="2560320"/>
          </a:xfrm>
          <a:prstGeom prst="ellipse">
            <a:avLst/>
          </a:prstGeom>
          <a:solidFill>
            <a:srgbClr val="E3F5E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A9AAD"/>
                </a:solidFill>
                <a:latin typeface="Avenir Next"/>
              </a:rPr>
              <a:t>JOBUL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B3D4A"/>
                </a:solidFill>
                <a:latin typeface="Georgia"/>
              </a:rPr>
              <a:t>O zi de QA arată cam așa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977639"/>
            <a:ext cx="10149840" cy="109728"/>
          </a:xfrm>
          <a:prstGeom prst="roundRect">
            <a:avLst/>
          </a:prstGeom>
          <a:solidFill>
            <a:srgbClr val="3A9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057400"/>
            <a:ext cx="2057400" cy="3840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A9AAD"/>
                </a:solidFill>
                <a:latin typeface="Avenir Next"/>
              </a:rPr>
              <a:t>09:00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3600" b="0" i="0">
                <a:solidFill>
                  <a:srgbClr val="1A2B2E"/>
                </a:solidFill>
                <a:latin typeface="Avenir Next"/>
              </a:rPr>
              <a:t>🧪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0B3D4A"/>
                </a:solidFill>
                <a:latin typeface="Avenir Next"/>
              </a:rPr>
              <a:t>Încerci app-ul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057400"/>
            <a:ext cx="2057400" cy="3840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A9AAD"/>
                </a:solidFill>
                <a:latin typeface="Avenir Next"/>
              </a:rPr>
              <a:t>11:00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3600" b="0" i="0">
                <a:solidFill>
                  <a:srgbClr val="1A2B2E"/>
                </a:solidFill>
                <a:latin typeface="Avenir Next"/>
              </a:rPr>
              <a:t>🐞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0B3D4A"/>
                </a:solidFill>
                <a:latin typeface="Avenir Next"/>
              </a:rPr>
              <a:t>Găsești bug-uri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2057400"/>
            <a:ext cx="2057400" cy="3840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A9AAD"/>
                </a:solidFill>
                <a:latin typeface="Avenir Next"/>
              </a:rPr>
              <a:t>13:00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3600" b="0" i="0">
                <a:solidFill>
                  <a:srgbClr val="1A2B2E"/>
                </a:solidFill>
                <a:latin typeface="Avenir Next"/>
              </a:rPr>
              <a:t>📝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0B3D4A"/>
                </a:solidFill>
                <a:latin typeface="Avenir Next"/>
              </a:rPr>
              <a:t>Scrii rapoarte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0" y="2057400"/>
            <a:ext cx="2057400" cy="3840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A9AAD"/>
                </a:solidFill>
                <a:latin typeface="Avenir Next"/>
              </a:rPr>
              <a:t>15:00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3600" b="0" i="0">
                <a:solidFill>
                  <a:srgbClr val="1A2B2E"/>
                </a:solidFill>
                <a:latin typeface="Avenir Next"/>
              </a:rPr>
              <a:t>🤝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0B3D4A"/>
                </a:solidFill>
                <a:latin typeface="Avenir Next"/>
              </a:rPr>
              <a:t>Cu programatorii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38360" y="2057400"/>
            <a:ext cx="2057400" cy="3840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A9AAD"/>
                </a:solidFill>
                <a:latin typeface="Avenir Next"/>
              </a:rPr>
              <a:t>17:00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3600" b="0" i="0">
                <a:solidFill>
                  <a:srgbClr val="1A2B2E"/>
                </a:solidFill>
                <a:latin typeface="Avenir Next"/>
              </a:rPr>
              <a:t>🔁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0B3D4A"/>
                </a:solidFill>
                <a:latin typeface="Avenir Next"/>
              </a:rPr>
              <a:t>Verifici din nou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60320" y="-1280160"/>
            <a:ext cx="6858000" cy="3108960"/>
          </a:xfrm>
          <a:prstGeom prst="ellipse">
            <a:avLst/>
          </a:prstGeom>
          <a:solidFill>
            <a:srgbClr val="D4EEF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4572000"/>
            <a:ext cx="4114800" cy="2926080"/>
          </a:xfrm>
          <a:prstGeom prst="ellipse">
            <a:avLst/>
          </a:prstGeom>
          <a:solidFill>
            <a:srgbClr val="FBEBE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4937760"/>
            <a:ext cx="3474720" cy="2560320"/>
          </a:xfrm>
          <a:prstGeom prst="ellipse">
            <a:avLst/>
          </a:prstGeom>
          <a:solidFill>
            <a:srgbClr val="E3F5E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A9AAD"/>
                </a:solidFill>
                <a:latin typeface="Avenir Next"/>
              </a:rPr>
              <a:t>DE CE CONTEAZĂ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B3D4A"/>
                </a:solidFill>
                <a:latin typeface="Georgia"/>
              </a:rPr>
              <a:t>Fără QA… haos pe telefon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3383280" cy="4114800"/>
          </a:xfrm>
          <a:prstGeom prst="roundRect">
            <a:avLst>
              <a:gd name="adj" fmla="val 20000"/>
            </a:avLst>
          </a:prstGeom>
          <a:solidFill>
            <a:srgbClr val="0B3D4A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FFFFFF"/>
                </a:solidFill>
                <a:latin typeface="Avenir Next"/>
              </a:rPr>
              <a:t>💥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App crashed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600" b="0" i="0">
                <a:solidFill>
                  <a:srgbClr val="E8F6F4"/>
                </a:solidFill>
                <a:latin typeface="Avenir Next"/>
              </a:rPr>
              <a:t>retry?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920240"/>
            <a:ext cx="6766560" cy="8961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3D4A"/>
                </a:solidFill>
                <a:latin typeface="Avenir Next"/>
              </a:rPr>
              <a:t>🎮   Jocul se blochează   —   exact în finală / rank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926080"/>
            <a:ext cx="6766560" cy="8961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3D4A"/>
                </a:solidFill>
                <a:latin typeface="Avenir Next"/>
              </a:rPr>
              <a:t>📱   Story-ul nu urcă   —   sau like-ul „dispare”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931920"/>
            <a:ext cx="6766560" cy="8961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3D4A"/>
                </a:solidFill>
                <a:latin typeface="Avenir Next"/>
              </a:rPr>
              <a:t>📚   Catalog online greșit   —   nota / absența e aiurea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4937760"/>
            <a:ext cx="6766560" cy="8961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3D4A"/>
                </a:solidFill>
                <a:latin typeface="Avenir Next"/>
              </a:rPr>
              <a:t>🎵   Melodia sare   —   sau video-ul se blochează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60320" y="-1280160"/>
            <a:ext cx="6858000" cy="3108960"/>
          </a:xfrm>
          <a:prstGeom prst="ellipse">
            <a:avLst/>
          </a:prstGeom>
          <a:solidFill>
            <a:srgbClr val="D4EEF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4572000"/>
            <a:ext cx="4114800" cy="2926080"/>
          </a:xfrm>
          <a:prstGeom prst="ellipse">
            <a:avLst/>
          </a:prstGeom>
          <a:solidFill>
            <a:srgbClr val="FBEBE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4937760"/>
            <a:ext cx="3474720" cy="2560320"/>
          </a:xfrm>
          <a:prstGeom prst="ellipse">
            <a:avLst/>
          </a:prstGeom>
          <a:solidFill>
            <a:srgbClr val="E3F5E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A9AAD"/>
                </a:solidFill>
                <a:latin typeface="Avenir Next"/>
              </a:rPr>
              <a:t>SUPERPUTERILE VOASTRE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B3D4A"/>
                </a:solidFill>
                <a:latin typeface="Georgia"/>
              </a:rPr>
              <a:t>Power-up-uri deblocate azi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2743200" cy="3840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2331720"/>
            <a:ext cx="1188720" cy="1188720"/>
          </a:xfrm>
          <a:prstGeom prst="ellipse">
            <a:avLst/>
          </a:prstGeom>
          <a:solidFill>
            <a:srgbClr val="3A9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Avenir Next"/>
              </a:rPr>
              <a:t>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3D4A"/>
                </a:solidFill>
                <a:latin typeface="Georgia"/>
              </a:rPr>
              <a:t>Ochi de vultur</a:t>
            </a:r>
          </a:p>
          <a:p>
            <a:pPr algn="ctr">
              <a:spcBef>
                <a:spcPts val="800"/>
              </a:spcBef>
            </a:pPr>
            <a:r>
              <a:rPr sz="1400" b="0" i="0">
                <a:solidFill>
                  <a:srgbClr val="5A6E72"/>
                </a:solidFill>
                <a:latin typeface="Avenir Next"/>
              </a:rPr>
              <a:t>Vezi ce nu se potrivește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5212080"/>
            <a:ext cx="1463040" cy="128016"/>
          </a:xfrm>
          <a:prstGeom prst="roundRect">
            <a:avLst/>
          </a:prstGeom>
          <a:solidFill>
            <a:srgbClr val="3A9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0" y="2011680"/>
            <a:ext cx="2743200" cy="3840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06240" y="2331720"/>
            <a:ext cx="1188720" cy="1188720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Avenir Next"/>
              </a:rPr>
              <a:t>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749039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3D4A"/>
                </a:solidFill>
                <a:latin typeface="Georgia"/>
              </a:rPr>
              <a:t>Detective mode</a:t>
            </a:r>
          </a:p>
          <a:p>
            <a:pPr algn="ctr">
              <a:spcBef>
                <a:spcPts val="800"/>
              </a:spcBef>
            </a:pPr>
            <a:r>
              <a:rPr sz="1400" b="0" i="0">
                <a:solidFill>
                  <a:srgbClr val="5A6E72"/>
                </a:solidFill>
                <a:latin typeface="Avenir Next"/>
              </a:rPr>
              <a:t>„Hmm, ciudat…”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5212080"/>
            <a:ext cx="1463040" cy="128016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5080" y="2011680"/>
            <a:ext cx="2743200" cy="3840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32320" y="2331720"/>
            <a:ext cx="1188720" cy="118872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Avenir Next"/>
              </a:rPr>
              <a:t>🗣️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49039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3D4A"/>
                </a:solidFill>
                <a:latin typeface="Georgia"/>
              </a:rPr>
              <a:t>Raport clar</a:t>
            </a:r>
          </a:p>
          <a:p>
            <a:pPr algn="ctr">
              <a:spcBef>
                <a:spcPts val="800"/>
              </a:spcBef>
            </a:pPr>
            <a:r>
              <a:rPr sz="1400" b="0" i="0">
                <a:solidFill>
                  <a:srgbClr val="5A6E72"/>
                </a:solidFill>
                <a:latin typeface="Avenir Next"/>
              </a:rPr>
              <a:t>Alții înțeleg din prima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95160" y="5212080"/>
            <a:ext cx="1463040" cy="128016"/>
          </a:xfrm>
          <a:prstGeom prst="round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81160" y="2011680"/>
            <a:ext cx="2743200" cy="3840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0" y="2331720"/>
            <a:ext cx="1188720" cy="1188720"/>
          </a:xfrm>
          <a:prstGeom prst="ellipse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Avenir Next"/>
              </a:rPr>
              <a:t>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749039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3D4A"/>
                </a:solidFill>
                <a:latin typeface="Georgia"/>
              </a:rPr>
              <a:t>Retry power</a:t>
            </a:r>
          </a:p>
          <a:p>
            <a:pPr algn="ctr">
              <a:spcBef>
                <a:spcPts val="800"/>
              </a:spcBef>
            </a:pPr>
            <a:r>
              <a:rPr sz="1400" b="0" i="0">
                <a:solidFill>
                  <a:srgbClr val="5A6E72"/>
                </a:solidFill>
                <a:latin typeface="Avenir Next"/>
              </a:rPr>
              <a:t>Greșeala nu te oprește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21240" y="5212080"/>
            <a:ext cx="1463040" cy="128016"/>
          </a:xfrm>
          <a:prstGeom prst="round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60320" y="-1280160"/>
            <a:ext cx="6858000" cy="3108960"/>
          </a:xfrm>
          <a:prstGeom prst="ellipse">
            <a:avLst/>
          </a:prstGeom>
          <a:solidFill>
            <a:srgbClr val="D4EEF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4572000"/>
            <a:ext cx="4114800" cy="2926080"/>
          </a:xfrm>
          <a:prstGeom prst="ellipse">
            <a:avLst/>
          </a:prstGeom>
          <a:solidFill>
            <a:srgbClr val="FBEBE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4937760"/>
            <a:ext cx="3474720" cy="2560320"/>
          </a:xfrm>
          <a:prstGeom prst="ellipse">
            <a:avLst/>
          </a:prstGeom>
          <a:solidFill>
            <a:srgbClr val="E3F5E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A9AAD"/>
                </a:solidFill>
                <a:latin typeface="Avenir Next"/>
              </a:rPr>
              <a:t>POATE E PENTRU TINE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B3D4A"/>
                </a:solidFill>
                <a:latin typeface="Georgia"/>
              </a:rPr>
              <a:t>Ți-a plăcut să cauți greșeli?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1783080"/>
            <a:ext cx="4572000" cy="1051560"/>
          </a:xfrm>
          <a:prstGeom prst="roundRect">
            <a:avLst>
              <a:gd name="adj" fmla="val 15000"/>
            </a:avLst>
          </a:prstGeom>
          <a:solidFill>
            <a:srgbClr val="3A9AAD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🕵️   Ție ți-a plăcut?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200400"/>
            <a:ext cx="4663440" cy="2743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1A2B2E"/>
                </a:solidFill>
                <a:latin typeface="Avenir Next"/>
              </a:rPr>
              <a:t>🐞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2600" b="1" i="0">
                <a:solidFill>
                  <a:srgbClr val="1A6B7A"/>
                </a:solidFill>
                <a:latin typeface="Georgia"/>
              </a:rPr>
              <a:t>QA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5A6E72"/>
                </a:solidFill>
                <a:latin typeface="Avenir Next"/>
              </a:rPr>
              <a:t>Pui aplicația la încercare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200400"/>
            <a:ext cx="4663440" cy="2743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1A2B2E"/>
                </a:solidFill>
                <a:latin typeface="Avenir Next"/>
              </a:rPr>
              <a:t>👩‍💻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2200" b="1" i="0">
                <a:solidFill>
                  <a:srgbClr val="E07A5F"/>
                </a:solidFill>
                <a:latin typeface="Georgia"/>
              </a:rPr>
              <a:t>sau altceva în IT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5A6E72"/>
                </a:solidFill>
                <a:latin typeface="Avenir Next"/>
              </a:rPr>
              <a:t>Curiozitatea rămâne arma 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0" y="-914400"/>
            <a:ext cx="6400800" cy="2743200"/>
          </a:xfrm>
          <a:prstGeom prst="ellipse">
            <a:avLst/>
          </a:prstGeom>
          <a:solidFill>
            <a:srgbClr val="1A6B7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4572000"/>
            <a:ext cx="4572000" cy="3200400"/>
          </a:xfrm>
          <a:prstGeom prst="ellipse">
            <a:avLst/>
          </a:prstGeom>
          <a:solidFill>
            <a:srgbClr val="E07A5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A9AAD"/>
                </a:solidFill>
                <a:latin typeface="Avenir Next"/>
              </a:rPr>
              <a:t>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Misiune îndeplinită!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Avenir Next"/>
              </a:rPr>
              <a:t>⭐     🐞     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3840480"/>
            <a:ext cx="5943600" cy="1005840"/>
          </a:xfrm>
          <a:prstGeom prst="roundRect">
            <a:avLst>
              <a:gd name="adj" fmla="val 15000"/>
            </a:avLst>
          </a:prstGeom>
          <a:solidFill>
            <a:srgbClr val="3A9AAD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Junior QA — Insula după furtună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5212080"/>
            <a:ext cx="2834640" cy="822960"/>
          </a:xfrm>
          <a:prstGeom prst="roundRect">
            <a:avLst>
              <a:gd name="adj" fmla="val 15000"/>
            </a:avLst>
          </a:prstGeom>
          <a:solidFill>
            <a:srgbClr val="E07A5F"/>
          </a:solidFill>
          <a:ln>
            <a:noFill/>
          </a:ln>
          <a:effectLst>
            <a:outerShdw blurRad="76200" dist="38100" dir="2700000" algn="tl" rotWithShape="0">
              <a:srgbClr val="0B3D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Întrebări?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