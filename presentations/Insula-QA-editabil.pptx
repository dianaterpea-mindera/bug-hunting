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Întreabă: ce credeți că ați făcut azi?</a:t>
            </a:r>
          </a:p>
          <a:p>
            <a:r>
              <a:t>• Surpriză: meseria are un nume.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QA = ne asigurăm că e de calitate.</a:t>
            </a:r>
          </a:p>
          <a:p>
            <a:r>
              <a:t>• Ați fost echipa de QA din joc.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Poveste scurtă.</a:t>
            </a:r>
          </a:p>
          <a:p>
            <a:r>
              <a:t>• Cui i s-a blocat un joc / story / temă?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Arată un raport din Review.</a:t>
            </a:r>
          </a:p>
          <a:p>
            <a:r>
              <a:t>• Leagă pașii de termeni 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Review opțional: scenele 1, 3,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Review: scenele 5, 4,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Scenele 6, 11, 12.</a:t>
            </a:r>
          </a:p>
          <a:p>
            <a:r>
              <a:t>• Curaj să zici „asta nu e corect”.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Nu numi branduri.</a:t>
            </a:r>
          </a:p>
          <a:p>
            <a:r>
              <a:t>• 20–30 sec mâini 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Retest după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Bug mic pe ecran → problemă mare în spate.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Greșeala la selecție nu a luat stele.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Ton ușor.</a:t>
            </a:r>
          </a:p>
          <a:p>
            <a:r>
              <a:t>• Azi ați fost deja junior QA în Insula după furtună.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2–3 min întrebări.</a:t>
            </a:r>
          </a:p>
          <a:p>
            <a:r>
              <a:t>• Care a fost cel mai sneaky bug?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40080" y="41148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F0C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3D4A"/>
                </a:solidFill>
                <a:latin typeface="Avenir Next"/>
              </a:rPr>
              <a:t>🕵️  RECAPITULARE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Georgia"/>
              </a:rPr>
              <a:t>Ați salvat animale… sau?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F6F4"/>
                </a:solidFill>
                <a:latin typeface="Avenir Next"/>
              </a:rPr>
              <a:t>Ceva nu se potrivește. Detectivii observă tot.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1A2B2E"/>
                </a:solidFill>
                <a:latin typeface="Avenir Next"/>
              </a:rPr>
              <a:t>🐢  🦜  🦊</a:t>
            </a:r>
          </a:p>
          <a:p>
            <a:pPr algn="ctr">
              <a:spcBef>
                <a:spcPts val="1400"/>
              </a:spcBef>
              <a:spcAft>
                <a:spcPts val="0"/>
              </a:spcAft>
            </a:pPr>
            <a:r>
              <a:rPr sz="2600" b="1">
                <a:solidFill>
                  <a:srgbClr val="0B3D4A"/>
                </a:solidFill>
                <a:latin typeface="Georgia"/>
              </a:rPr>
              <a:t>Ce credeați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600" b="0">
                <a:solidFill>
                  <a:srgbClr val="5A6E72"/>
                </a:solidFill>
                <a:latin typeface="Avenir Next"/>
              </a:rPr>
              <a:t>Eroi pe Insula după furtună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39319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venir Next"/>
              </a:rPr>
              <a:t>VS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468880"/>
            <a:ext cx="4663440" cy="3840480"/>
          </a:xfrm>
          <a:prstGeom prst="roundRect">
            <a:avLst>
              <a:gd name="adj" fmla="val 14000"/>
            </a:avLst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E07A5F"/>
                </a:solidFill>
                <a:latin typeface="Georgia"/>
              </a:rPr>
              <a:t>?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Ce ați făcut de fapt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600" b="0">
                <a:solidFill>
                  <a:srgbClr val="E8F6F4"/>
                </a:solidFill>
                <a:latin typeface="Avenir Next"/>
              </a:rPr>
              <a:t>O meserie reală din IT… cu lupă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40080" y="45720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F0C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3D4A"/>
                </a:solidFill>
                <a:latin typeface="Avenir Next"/>
              </a:rPr>
              <a:t>🔓  REVELAȚIE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Georgia"/>
              </a:rPr>
              <a:t>Răsturnare: ați făcut Software Testing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2286000"/>
            <a:ext cx="8138160" cy="3108960"/>
          </a:xfrm>
          <a:prstGeom prst="roundRect">
            <a:avLst>
              <a:gd name="adj" fmla="val 14000"/>
            </a:avLst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0C75E"/>
                </a:solidFill>
                <a:latin typeface="Georgia"/>
              </a:rPr>
              <a:t>QA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Quality Assurance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800" b="0">
                <a:solidFill>
                  <a:srgbClr val="E8F6F4"/>
                </a:solidFill>
                <a:latin typeface="Avenir Next"/>
              </a:rPr>
              <a:t>Vânători de bug-uri profesioniști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500" b="0">
                <a:solidFill>
                  <a:srgbClr val="E8F6F4"/>
                </a:solidFill>
                <a:latin typeface="Avenir Next"/>
              </a:rPr>
              <a:t>Înainte ca app-ul să ajungă la milioane de oameni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5669280"/>
            <a:ext cx="5212080" cy="685800"/>
          </a:xfrm>
          <a:prstGeom prst="roundRect">
            <a:avLst>
              <a:gd name="adj" fmla="val 40000"/>
            </a:avLst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venir Next"/>
              </a:rPr>
              <a:t>🎖️  CERTIFICAT DETECTIV — ECHIPA INSULEI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40080" y="36576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venir Next"/>
              </a:rPr>
              <a:t>📚  TERMENI NOI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0B3D4A"/>
                </a:solidFill>
                <a:latin typeface="Georgia"/>
              </a:rPr>
              <a:t>De ce zicem „bug”?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A6E72"/>
                </a:solidFill>
                <a:latin typeface="Avenir Next"/>
              </a:rPr>
              <a:t>Spoiler: a existat un gândac. Real. Într-un computer.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120640" cy="39319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A9AAD"/>
                </a:solidFill>
                <a:latin typeface="Avenir Next"/>
              </a:rPr>
              <a:t>DEMULT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4400" b="0">
                <a:solidFill>
                  <a:srgbClr val="1A2B2E"/>
                </a:solidFill>
                <a:latin typeface="Avenir Next"/>
              </a:rPr>
              <a:t>🐛💻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0B3D4A"/>
                </a:solidFill>
                <a:latin typeface="Georgia"/>
              </a:rPr>
              <a:t>Gândacul din mașinărie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5A6E72"/>
                </a:solidFill>
                <a:latin typeface="Avenir Next"/>
              </a:rPr>
              <a:t>Un insectă adevărată a stricat
un computer — de-atunci zicem „bug”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377440"/>
            <a:ext cx="5120640" cy="3931920"/>
          </a:xfrm>
          <a:prstGeom prst="roundRect">
            <a:avLst>
              <a:gd name="adj" fmla="val 14000"/>
            </a:avLst>
          </a:prstGeom>
          <a:solidFill>
            <a:srgbClr val="F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45C42"/>
                </a:solidFill>
                <a:latin typeface="Avenir Next"/>
              </a:rPr>
              <a:t>AZI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4400" b="0">
                <a:solidFill>
                  <a:srgbClr val="1A2B2E"/>
                </a:solidFill>
                <a:latin typeface="Avenir Next"/>
              </a:rPr>
              <a:t>💥📱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2400" b="1">
                <a:solidFill>
                  <a:srgbClr val="0B3D4A"/>
                </a:solidFill>
                <a:latin typeface="Georgia"/>
              </a:rPr>
              <a:t>Bug = greșeală în program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5A6E72"/>
                </a:solidFill>
                <a:latin typeface="Avenir Next"/>
              </a:rPr>
              <a:t>Ce ați vânat pe insulă.
Ce QA vânează în fiecare zi.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32004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F0C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3D4A"/>
                </a:solidFill>
                <a:latin typeface="Avenir Next"/>
              </a:rPr>
              <a:t>🎮 → 💼  TRADUCERE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Ați vorbit deja limba testerilor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F6F4"/>
                </a:solidFill>
                <a:latin typeface="Avenir Next"/>
              </a:rPr>
              <a:t>Aceiași pași. Alt vocabular. Quest level 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194560"/>
            <a:ext cx="2194560" cy="4114800"/>
          </a:xfrm>
          <a:prstGeom prst="roundRect">
            <a:avLst>
              <a:gd name="adj" fmla="val 14000"/>
            </a:avLst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0C75E"/>
                </a:solidFill>
                <a:latin typeface="Avenir Next"/>
              </a:rPr>
              <a:t>1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  <a:latin typeface="Avenir Next"/>
              </a:rPr>
              <a:t>👀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400" b="1">
                <a:solidFill>
                  <a:srgbClr val="E8F6F4"/>
                </a:solidFill>
                <a:latin typeface="Avenir Next"/>
              </a:rPr>
              <a:t>Ai observat
ceva ciudat</a:t>
            </a:r>
          </a:p>
          <a:p>
            <a:pPr algn="ctr">
              <a:spcBef>
                <a:spcPts val="1400"/>
              </a:spcBef>
              <a:spcAft>
                <a:spcPts val="0"/>
              </a:spcAft>
            </a:pPr>
            <a:r>
              <a:rPr sz="1300" b="1">
                <a:solidFill>
                  <a:srgbClr val="0B3D4A"/>
                </a:solidFill>
                <a:latin typeface="Avenir Next"/>
              </a:rPr>
              <a:t>Bug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79" y="2194560"/>
            <a:ext cx="2194560" cy="4114800"/>
          </a:xfrm>
          <a:prstGeom prst="roundRect">
            <a:avLst>
              <a:gd name="adj" fmla="val 14000"/>
            </a:avLst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0C75E"/>
                </a:solidFill>
                <a:latin typeface="Avenir Next"/>
              </a:rPr>
              <a:t>2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  <a:latin typeface="Avenir Next"/>
              </a:rPr>
              <a:t>🎯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400" b="1">
                <a:solidFill>
                  <a:srgbClr val="E8F6F4"/>
                </a:solidFill>
                <a:latin typeface="Avenir Next"/>
              </a:rPr>
              <a:t>Ai marcat
zona</a:t>
            </a:r>
          </a:p>
          <a:p>
            <a:pPr algn="ctr">
              <a:spcBef>
                <a:spcPts val="1400"/>
              </a:spcBef>
              <a:spcAft>
                <a:spcPts val="0"/>
              </a:spcAft>
            </a:pPr>
            <a:r>
              <a:rPr sz="1300" b="1">
                <a:solidFill>
                  <a:srgbClr val="0B3D4A"/>
                </a:solidFill>
                <a:latin typeface="Avenir Next"/>
              </a:rPr>
              <a:t>Localizare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2194560"/>
            <a:ext cx="2194560" cy="4114800"/>
          </a:xfrm>
          <a:prstGeom prst="roundRect">
            <a:avLst>
              <a:gd name="adj" fmla="val 14000"/>
            </a:avLst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0C75E"/>
                </a:solidFill>
                <a:latin typeface="Avenir Next"/>
              </a:rPr>
              <a:t>3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  <a:latin typeface="Avenir Next"/>
              </a:rPr>
              <a:t>📸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400" b="1">
                <a:solidFill>
                  <a:srgbClr val="E8F6F4"/>
                </a:solidFill>
                <a:latin typeface="Avenir Next"/>
              </a:rPr>
              <a:t>Ai făcut
screenshot</a:t>
            </a:r>
          </a:p>
          <a:p>
            <a:pPr algn="ctr">
              <a:spcBef>
                <a:spcPts val="1400"/>
              </a:spcBef>
              <a:spcAft>
                <a:spcPts val="0"/>
              </a:spcAft>
            </a:pPr>
            <a:r>
              <a:rPr sz="1300" b="1">
                <a:solidFill>
                  <a:srgbClr val="0B3D4A"/>
                </a:solidFill>
                <a:latin typeface="Avenir Next"/>
              </a:rPr>
              <a:t>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19" y="2194560"/>
            <a:ext cx="2194560" cy="4114800"/>
          </a:xfrm>
          <a:prstGeom prst="roundRect">
            <a:avLst>
              <a:gd name="adj" fmla="val 14000"/>
            </a:avLst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0C75E"/>
                </a:solidFill>
                <a:latin typeface="Avenir Next"/>
              </a:rPr>
              <a:t>4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  <a:latin typeface="Avenir Next"/>
              </a:rPr>
              <a:t>✍️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400" b="1">
                <a:solidFill>
                  <a:srgbClr val="E8F6F4"/>
                </a:solidFill>
                <a:latin typeface="Avenir Next"/>
              </a:rPr>
              <a:t>Ai scris ce e
în neregulă</a:t>
            </a:r>
          </a:p>
          <a:p>
            <a:pPr algn="ctr">
              <a:spcBef>
                <a:spcPts val="1400"/>
              </a:spcBef>
              <a:spcAft>
                <a:spcPts val="0"/>
              </a:spcAft>
            </a:pPr>
            <a:r>
              <a:rPr sz="1300" b="1">
                <a:solidFill>
                  <a:srgbClr val="0B3D4A"/>
                </a:solidFill>
                <a:latin typeface="Avenir Next"/>
              </a:rPr>
              <a:t>Bug report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0" y="2194560"/>
            <a:ext cx="2194560" cy="4114800"/>
          </a:xfrm>
          <a:prstGeom prst="roundRect">
            <a:avLst>
              <a:gd name="adj" fmla="val 14000"/>
            </a:avLst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0C75E"/>
                </a:solidFill>
                <a:latin typeface="Avenir Next"/>
              </a:rPr>
              <a:t>5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  <a:latin typeface="Avenir Next"/>
              </a:rPr>
              <a:t>⚖️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400" b="1">
                <a:solidFill>
                  <a:srgbClr val="E8F6F4"/>
                </a:solidFill>
                <a:latin typeface="Avenir Next"/>
              </a:rPr>
              <a:t>Așteptat
vs real</a:t>
            </a:r>
          </a:p>
          <a:p>
            <a:pPr algn="ctr">
              <a:spcBef>
                <a:spcPts val="1400"/>
              </a:spcBef>
              <a:spcAft>
                <a:spcPts val="0"/>
              </a:spcAft>
            </a:pPr>
            <a:r>
              <a:rPr sz="1300" b="1">
                <a:solidFill>
                  <a:srgbClr val="0B3D4A"/>
                </a:solidFill>
                <a:latin typeface="Avenir Next"/>
              </a:rPr>
              <a:t>Expected / Actual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32004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venir Next"/>
              </a:rPr>
              <a:t>🗂️  DOSARE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0B3D4A"/>
                </a:solidFill>
                <a:latin typeface="Georgia"/>
              </a:rPr>
              <a:t>Cazul #1: imaginea minte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A6E72"/>
                </a:solidFill>
                <a:latin typeface="Avenir Next"/>
              </a:rPr>
              <a:t>Când ce scrie ≠ ce vezi. Classic sneaky bug.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103120"/>
            <a:ext cx="3703320" cy="4206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07A5F"/>
                </a:solidFill>
                <a:latin typeface="Avenir Next"/>
              </a:rPr>
              <a:t>SCENA 1</a:t>
            </a:r>
          </a:p>
          <a:p>
            <a:pPr algn="ctr">
              <a:spcBef>
                <a:spcPts val="1600"/>
              </a:spcBef>
              <a:spcAft>
                <a:spcPts val="0"/>
              </a:spcAft>
            </a:pPr>
            <a:r>
              <a:rPr sz="1600" b="1">
                <a:solidFill>
                  <a:srgbClr val="0B3D4A"/>
                </a:solidFill>
                <a:latin typeface="Avenir Next"/>
              </a:rPr>
              <a:t>🚤  „Ai ajuns cu barca”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2200" b="1">
                <a:solidFill>
                  <a:srgbClr val="E07A5F"/>
                </a:solidFill>
                <a:latin typeface="Avenir Next"/>
              </a:rPr>
              <a:t>≠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600" b="1">
                <a:solidFill>
                  <a:srgbClr val="C45C42"/>
                </a:solidFill>
                <a:latin typeface="Avenir Next"/>
              </a:rPr>
              <a:t>🚗  Pe ecran: mașină</a:t>
            </a:r>
          </a:p>
          <a:p>
            <a:pPr algn="ctr">
              <a:spcBef>
                <a:spcPts val="1600"/>
              </a:spcBef>
              <a:spcAft>
                <a:spcPts val="0"/>
              </a:spcAft>
            </a:pPr>
            <a:r>
              <a:rPr sz="1400" b="1">
                <a:solidFill>
                  <a:srgbClr val="5A6E72"/>
                </a:solidFill>
                <a:latin typeface="Avenir Next"/>
              </a:rPr>
              <a:t>🔍  Text vs iconiță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103120"/>
            <a:ext cx="3703320" cy="4206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A9AAD"/>
                </a:solidFill>
                <a:latin typeface="Avenir Next"/>
              </a:rPr>
              <a:t>SCENA 3</a:t>
            </a:r>
          </a:p>
          <a:p>
            <a:pPr algn="ctr">
              <a:spcBef>
                <a:spcPts val="1600"/>
              </a:spcBef>
              <a:spcAft>
                <a:spcPts val="0"/>
              </a:spcAft>
            </a:pPr>
            <a:r>
              <a:rPr sz="1600" b="1">
                <a:solidFill>
                  <a:srgbClr val="0B3D4A"/>
                </a:solidFill>
                <a:latin typeface="Avenir Next"/>
              </a:rPr>
              <a:t>🐢  Tessa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2200" b="1">
                <a:solidFill>
                  <a:srgbClr val="E07A5F"/>
                </a:solidFill>
                <a:latin typeface="Avenir Next"/>
              </a:rPr>
              <a:t>≠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600" b="1">
                <a:solidFill>
                  <a:srgbClr val="C45C42"/>
                </a:solidFill>
                <a:latin typeface="Avenir Next"/>
              </a:rPr>
              <a:t>📋  Fișa zice Tina</a:t>
            </a:r>
          </a:p>
          <a:p>
            <a:pPr algn="ctr">
              <a:spcBef>
                <a:spcPts val="1600"/>
              </a:spcBef>
              <a:spcAft>
                <a:spcPts val="0"/>
              </a:spcAft>
            </a:pPr>
            <a:r>
              <a:rPr sz="1400" b="1">
                <a:solidFill>
                  <a:srgbClr val="5A6E72"/>
                </a:solidFill>
                <a:latin typeface="Avenir Next"/>
              </a:rPr>
              <a:t>🔍  Nume greșit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2103120"/>
            <a:ext cx="3703320" cy="4206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6A4F"/>
                </a:solidFill>
                <a:latin typeface="Avenir Next"/>
              </a:rPr>
              <a:t>SCENA 10</a:t>
            </a:r>
          </a:p>
          <a:p>
            <a:pPr algn="ctr">
              <a:spcBef>
                <a:spcPts val="1600"/>
              </a:spcBef>
              <a:spcAft>
                <a:spcPts val="0"/>
              </a:spcAft>
            </a:pPr>
            <a:r>
              <a:rPr sz="1600" b="1">
                <a:solidFill>
                  <a:srgbClr val="0B3D4A"/>
                </a:solidFill>
                <a:latin typeface="Avenir Next"/>
              </a:rPr>
              <a:t>🦜  Kiko = papagal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2200" b="1">
                <a:solidFill>
                  <a:srgbClr val="E07A5F"/>
                </a:solidFill>
                <a:latin typeface="Avenir Next"/>
              </a:rPr>
              <a:t>≠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600" b="1">
                <a:solidFill>
                  <a:srgbClr val="C45C42"/>
                </a:solidFill>
                <a:latin typeface="Avenir Next"/>
              </a:rPr>
              <a:t>🙈  Etichetă: Maimuță</a:t>
            </a:r>
          </a:p>
          <a:p>
            <a:pPr algn="ctr">
              <a:spcBef>
                <a:spcPts val="1600"/>
              </a:spcBef>
              <a:spcAft>
                <a:spcPts val="0"/>
              </a:spcAft>
            </a:pPr>
            <a:r>
              <a:rPr sz="1400" b="1">
                <a:solidFill>
                  <a:srgbClr val="5A6E72"/>
                </a:solidFill>
                <a:latin typeface="Avenir Next"/>
              </a:rPr>
              <a:t>🔍  Specie greșită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32004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F0C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3D4A"/>
                </a:solidFill>
                <a:latin typeface="Avenir Next"/>
              </a:rPr>
              <a:t>🧠  EROARE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Georgia"/>
              </a:rPr>
              <a:t>Cazul #2: creierul app-ului o ia razna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011680"/>
            <a:ext cx="3703320" cy="4297680"/>
          </a:xfrm>
          <a:prstGeom prst="roundRect">
            <a:avLst>
              <a:gd name="adj" fmla="val 14000"/>
            </a:avLst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➡️  Pădurea</a:t>
            </a:r>
          </a:p>
          <a:p>
            <a:pPr algn="ctr">
              <a:spcBef>
                <a:spcPts val="1800"/>
              </a:spcBef>
              <a:spcAft>
                <a:spcPts val="0"/>
              </a:spcAft>
            </a:pPr>
            <a:r>
              <a:rPr sz="1100" b="1">
                <a:solidFill>
                  <a:srgbClr val="F0C75E"/>
                </a:solidFill>
                <a:latin typeface="Avenir Next"/>
              </a:rPr>
              <a:t>AR TREBUI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E8F6F4"/>
                </a:solidFill>
                <a:latin typeface="Avenir Next"/>
              </a:rPr>
              <a:t>Dreapta → Centru</a:t>
            </a:r>
          </a:p>
          <a:p>
            <a:pPr algn="ctr">
              <a:spcBef>
                <a:spcPts val="1600"/>
              </a:spcBef>
              <a:spcAft>
                <a:spcPts val="0"/>
              </a:spcAft>
            </a:pPr>
            <a:r>
              <a:rPr sz="1100" b="1">
                <a:solidFill>
                  <a:srgbClr val="E07A5F"/>
                </a:solidFill>
                <a:latin typeface="Avenir Next"/>
              </a:rPr>
              <a:t>ÎN JOC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venir Next"/>
              </a:rPr>
              <a:t>Dreapta → Poiană 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2011680"/>
            <a:ext cx="3703320" cy="4297680"/>
          </a:xfrm>
          <a:prstGeom prst="roundRect">
            <a:avLst>
              <a:gd name="adj" fmla="val 14000"/>
            </a:avLst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💧  Rucsacul</a:t>
            </a:r>
          </a:p>
          <a:p>
            <a:pPr algn="ctr">
              <a:spcBef>
                <a:spcPts val="1800"/>
              </a:spcBef>
              <a:spcAft>
                <a:spcPts val="0"/>
              </a:spcAft>
            </a:pPr>
            <a:r>
              <a:rPr sz="1100" b="1">
                <a:solidFill>
                  <a:srgbClr val="F0C75E"/>
                </a:solidFill>
                <a:latin typeface="Avenir Next"/>
              </a:rPr>
              <a:t>AR TREBUI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E8F6F4"/>
                </a:solidFill>
                <a:latin typeface="Avenir Next"/>
              </a:rPr>
              <a:t>3 sticle = ×3</a:t>
            </a:r>
          </a:p>
          <a:p>
            <a:pPr algn="ctr">
              <a:spcBef>
                <a:spcPts val="1600"/>
              </a:spcBef>
              <a:spcAft>
                <a:spcPts val="0"/>
              </a:spcAft>
            </a:pPr>
            <a:r>
              <a:rPr sz="1100" b="1">
                <a:solidFill>
                  <a:srgbClr val="E07A5F"/>
                </a:solidFill>
                <a:latin typeface="Avenir Next"/>
              </a:rPr>
              <a:t>ÎN JOC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venir Next"/>
              </a:rPr>
              <a:t>Contorul rămâne ×2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2011680"/>
            <a:ext cx="3703320" cy="4297680"/>
          </a:xfrm>
          <a:prstGeom prst="roundRect">
            <a:avLst>
              <a:gd name="adj" fmla="val 14000"/>
            </a:avLst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🏥  Filtrul „Toate”</a:t>
            </a:r>
          </a:p>
          <a:p>
            <a:pPr algn="ctr">
              <a:spcBef>
                <a:spcPts val="1800"/>
              </a:spcBef>
              <a:spcAft>
                <a:spcPts val="0"/>
              </a:spcAft>
            </a:pPr>
            <a:r>
              <a:rPr sz="1100" b="1">
                <a:solidFill>
                  <a:srgbClr val="F0C75E"/>
                </a:solidFill>
                <a:latin typeface="Avenir Next"/>
              </a:rPr>
              <a:t>AR TREBUI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E8F6F4"/>
                </a:solidFill>
                <a:latin typeface="Avenir Next"/>
              </a:rPr>
              <a:t>5 animale</a:t>
            </a:r>
          </a:p>
          <a:p>
            <a:pPr algn="ctr">
              <a:spcBef>
                <a:spcPts val="1600"/>
              </a:spcBef>
              <a:spcAft>
                <a:spcPts val="0"/>
              </a:spcAft>
            </a:pPr>
            <a:r>
              <a:rPr sz="1100" b="1">
                <a:solidFill>
                  <a:srgbClr val="E07A5F"/>
                </a:solidFill>
                <a:latin typeface="Avenir Next"/>
              </a:rPr>
              <a:t>ÎN JOC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venir Next"/>
              </a:rPr>
              <a:t>4 pe listă — Pico 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32004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venir Next"/>
              </a:rPr>
              <a:t>⚠️  TRAP ALERT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0B3D4A"/>
                </a:solidFill>
                <a:latin typeface="Georgia"/>
              </a:rPr>
              <a:t>Nu crede bifa verde!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A6E72"/>
                </a:solidFill>
                <a:latin typeface="Avenir Next"/>
              </a:rPr>
              <a:t>App-ul zice OK. Realitatea zice „hmm…”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194560"/>
            <a:ext cx="3703320" cy="1920240"/>
          </a:xfrm>
          <a:prstGeom prst="roundRect">
            <a:avLst>
              <a:gd name="adj" fmla="val 14000"/>
            </a:avLst>
          </a:prstGeom>
          <a:solidFill>
            <a:srgbClr val="E3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D6A4F"/>
                </a:solidFill>
                <a:latin typeface="Avenir Next"/>
              </a:rPr>
              <a:t>✓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600" b="1">
                <a:solidFill>
                  <a:srgbClr val="0B3D4A"/>
                </a:solidFill>
                <a:latin typeface="Avenir Next"/>
              </a:rPr>
              <a:t>„Gata, a băut apă”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4297680"/>
            <a:ext cx="3703320" cy="2011680"/>
          </a:xfrm>
          <a:prstGeom prst="roundRect">
            <a:avLst>
              <a:gd name="adj" fmla="val 14000"/>
            </a:avLst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0C75E"/>
                </a:solidFill>
                <a:latin typeface="Avenir Next"/>
              </a:rPr>
              <a:t>REALITATEA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venir Next"/>
              </a:rPr>
              <a:t>🦊  Ruxi e tot însetată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194560"/>
            <a:ext cx="3703320" cy="1920240"/>
          </a:xfrm>
          <a:prstGeom prst="roundRect">
            <a:avLst>
              <a:gd name="adj" fmla="val 14000"/>
            </a:avLst>
          </a:prstGeom>
          <a:solidFill>
            <a:srgbClr val="E3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D6A4F"/>
                </a:solidFill>
                <a:latin typeface="Avenir Next"/>
              </a:rPr>
              <a:t>✓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600" b="1">
                <a:solidFill>
                  <a:srgbClr val="0B3D4A"/>
                </a:solidFill>
                <a:latin typeface="Avenir Next"/>
              </a:rPr>
              <a:t>Bot: Habitat apt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4297680"/>
            <a:ext cx="3703320" cy="2011680"/>
          </a:xfrm>
          <a:prstGeom prst="roundRect">
            <a:avLst>
              <a:gd name="adj" fmla="val 14000"/>
            </a:avLst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0C75E"/>
                </a:solidFill>
                <a:latin typeface="Avenir Next"/>
              </a:rPr>
              <a:t>REALITATEA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venir Next"/>
              </a:rPr>
              <a:t>🤖  Dosarul are avertismente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194560"/>
            <a:ext cx="3703320" cy="1920240"/>
          </a:xfrm>
          <a:prstGeom prst="roundRect">
            <a:avLst>
              <a:gd name="adj" fmla="val 14000"/>
            </a:avLst>
          </a:prstGeom>
          <a:solidFill>
            <a:srgbClr val="E3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D6A4F"/>
                </a:solidFill>
                <a:latin typeface="Avenir Next"/>
              </a:rPr>
              <a:t>✓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600" b="1">
                <a:solidFill>
                  <a:srgbClr val="0B3D4A"/>
                </a:solidFill>
                <a:latin typeface="Avenir Next"/>
              </a:rPr>
              <a:t>„Eliberare 17:20”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4297680"/>
            <a:ext cx="3703320" cy="2011680"/>
          </a:xfrm>
          <a:prstGeom prst="roundRect">
            <a:avLst>
              <a:gd name="adj" fmla="val 14000"/>
            </a:avLst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0C75E"/>
                </a:solidFill>
                <a:latin typeface="Avenir Next"/>
              </a:rPr>
              <a:t>REALITATEA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venir Next"/>
              </a:rPr>
              <a:t>📸  E poza de la prânz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57200" y="27432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F0C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3D4A"/>
                </a:solidFill>
                <a:latin typeface="Avenir Next"/>
              </a:rPr>
              <a:t>📱 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Le-ai trăit deja. Pe telefon.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F6F4"/>
                </a:solidFill>
                <a:latin typeface="Avenir Next"/>
              </a:rPr>
              <a:t>Ridică mâna dacă ți s-a întâmplat măcar unul!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11680"/>
            <a:ext cx="3703320" cy="2057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B3D4A"/>
                </a:solidFill>
                <a:latin typeface="Georgia"/>
              </a:rPr>
              <a:t>🎮  Jocuri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5A6E72"/>
                </a:solidFill>
                <a:latin typeface="Avenir Next"/>
              </a:rPr>
              <a:t>Scorul nu se salvează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A6B7A"/>
                </a:solidFill>
                <a:latin typeface="Avenir Next"/>
              </a:rPr>
              <a:t>QA: după Continua?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011680"/>
            <a:ext cx="3703320" cy="2057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B3D4A"/>
                </a:solidFill>
                <a:latin typeface="Georgia"/>
              </a:rPr>
              <a:t>💬  Chat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5A6E72"/>
                </a:solidFill>
                <a:latin typeface="Avenir Next"/>
              </a:rPr>
              <a:t>Mesaj dublu / nevăzut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A6B7A"/>
                </a:solidFill>
                <a:latin typeface="Avenir Next"/>
              </a:rPr>
              <a:t>QA: ce vede celălalt?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011680"/>
            <a:ext cx="3703320" cy="2057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B3D4A"/>
                </a:solidFill>
                <a:latin typeface="Georgia"/>
              </a:rPr>
              <a:t>📚  Școală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5A6E72"/>
                </a:solidFill>
                <a:latin typeface="Avenir Next"/>
              </a:rPr>
              <a:t>OK pe ecran, gol la prof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A6B7A"/>
                </a:solidFill>
                <a:latin typeface="Avenir Next"/>
              </a:rPr>
              <a:t>QA: succes = realitate?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251960"/>
            <a:ext cx="3703320" cy="2057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B3D4A"/>
                </a:solidFill>
                <a:latin typeface="Georgia"/>
              </a:rPr>
              <a:t>🛒  Shop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5A6E72"/>
                </a:solidFill>
                <a:latin typeface="Avenir Next"/>
              </a:rPr>
              <a:t>Ai plătit, itemul lipsește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A6B7A"/>
                </a:solidFill>
                <a:latin typeface="Avenir Next"/>
              </a:rPr>
              <a:t>QA: banii → produs?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4251960"/>
            <a:ext cx="3703320" cy="2057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B3D4A"/>
                </a:solidFill>
                <a:latin typeface="Georgia"/>
              </a:rPr>
              <a:t>🔔  Notificări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5A6E72"/>
                </a:solidFill>
                <a:latin typeface="Avenir Next"/>
              </a:rPr>
              <a:t>De 10 ori… sau deloc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A6B7A"/>
                </a:solidFill>
                <a:latin typeface="Avenir Next"/>
              </a:rPr>
              <a:t>QA: prea mult / puțin?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4251960"/>
            <a:ext cx="3703320" cy="2057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B3D4A"/>
                </a:solidFill>
                <a:latin typeface="Georgia"/>
              </a:rPr>
              <a:t>🚌  Hărți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5A6E72"/>
                </a:solidFill>
                <a:latin typeface="Avenir Next"/>
              </a:rPr>
              <a:t>„2 min” × 15 minute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A6B7A"/>
                </a:solidFill>
                <a:latin typeface="Avenir Next"/>
              </a:rPr>
              <a:t>QA: e actualizat?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32004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venir Next"/>
              </a:rPr>
              <a:t>🗓️  O ZI DE QA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0B3D4A"/>
                </a:solidFill>
                <a:latin typeface="Georgia"/>
              </a:rPr>
              <a:t>Nu e „apasă random”. E misiune.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114800"/>
            <a:ext cx="10332720" cy="109728"/>
          </a:xfrm>
          <a:prstGeom prst="roundRect">
            <a:avLst/>
          </a:prstGeom>
          <a:solidFill>
            <a:srgbClr val="F0C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194560"/>
            <a:ext cx="2194560" cy="40233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A9AAD"/>
                </a:solidFill>
                <a:latin typeface="Avenir Next"/>
              </a:rPr>
              <a:t>09:00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4000" b="0">
                <a:solidFill>
                  <a:srgbClr val="1A2B2E"/>
                </a:solidFill>
                <a:latin typeface="Avenir Next"/>
              </a:rPr>
              <a:t>🧪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500" b="1">
                <a:solidFill>
                  <a:srgbClr val="0B3D4A"/>
                </a:solidFill>
                <a:latin typeface="Avenir Next"/>
              </a:rPr>
              <a:t>Încerci app-ul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2194560"/>
            <a:ext cx="2194560" cy="40233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A9AAD"/>
                </a:solidFill>
                <a:latin typeface="Avenir Next"/>
              </a:rPr>
              <a:t>11:00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4000" b="0">
                <a:solidFill>
                  <a:srgbClr val="1A2B2E"/>
                </a:solidFill>
                <a:latin typeface="Avenir Next"/>
              </a:rPr>
              <a:t>🐞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500" b="1">
                <a:solidFill>
                  <a:srgbClr val="0B3D4A"/>
                </a:solidFill>
                <a:latin typeface="Avenir Next"/>
              </a:rPr>
              <a:t>Găsești bug-uri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2194560"/>
            <a:ext cx="2194560" cy="40233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A9AAD"/>
                </a:solidFill>
                <a:latin typeface="Avenir Next"/>
              </a:rPr>
              <a:t>13:00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4000" b="0">
                <a:solidFill>
                  <a:srgbClr val="1A2B2E"/>
                </a:solidFill>
                <a:latin typeface="Avenir Next"/>
              </a:rPr>
              <a:t>📝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500" b="1">
                <a:solidFill>
                  <a:srgbClr val="0B3D4A"/>
                </a:solidFill>
                <a:latin typeface="Avenir Next"/>
              </a:rPr>
              <a:t>Scrii rapoarte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2194560"/>
            <a:ext cx="2194560" cy="40233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A9AAD"/>
                </a:solidFill>
                <a:latin typeface="Avenir Next"/>
              </a:rPr>
              <a:t>15:00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4000" b="0">
                <a:solidFill>
                  <a:srgbClr val="1A2B2E"/>
                </a:solidFill>
                <a:latin typeface="Avenir Next"/>
              </a:rPr>
              <a:t>🤝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500" b="1">
                <a:solidFill>
                  <a:srgbClr val="0B3D4A"/>
                </a:solidFill>
                <a:latin typeface="Avenir Next"/>
              </a:rPr>
              <a:t>Cu programatorii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59" y="2194560"/>
            <a:ext cx="2194560" cy="40233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A9AAD"/>
                </a:solidFill>
                <a:latin typeface="Avenir Next"/>
              </a:rPr>
              <a:t>17:00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4000" b="0">
                <a:solidFill>
                  <a:srgbClr val="1A2B2E"/>
                </a:solidFill>
                <a:latin typeface="Avenir Next"/>
              </a:rPr>
              <a:t>🔁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500" b="1">
                <a:solidFill>
                  <a:srgbClr val="0B3D4A"/>
                </a:solidFill>
                <a:latin typeface="Avenir Next"/>
              </a:rPr>
              <a:t>Verifici din nou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32004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F0C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3D4A"/>
                </a:solidFill>
                <a:latin typeface="Avenir Next"/>
              </a:rPr>
              <a:t>💣  DE CE CONTEAZĂ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Georgia"/>
              </a:rPr>
              <a:t>Fără QA… haos pe telefon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3474720" cy="4297680"/>
          </a:xfrm>
          <a:prstGeom prst="roundRect">
            <a:avLst>
              <a:gd name="adj" fmla="val 14000"/>
            </a:avLst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0" b="0">
                <a:solidFill>
                  <a:srgbClr val="FFFFFF"/>
                </a:solidFill>
                <a:latin typeface="Avenir Next"/>
              </a:rPr>
              <a:t>💥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App crashed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600" b="0">
                <a:solidFill>
                  <a:srgbClr val="E8F6F4"/>
                </a:solidFill>
                <a:latin typeface="Avenir Next"/>
              </a:rPr>
              <a:t>retry? retry? retry?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2011680"/>
            <a:ext cx="7315200" cy="960120"/>
          </a:xfrm>
          <a:prstGeom prst="roundRect">
            <a:avLst>
              <a:gd name="adj" fmla="val 14000"/>
            </a:avLst>
          </a:prstGeom>
          <a:solidFill>
            <a:srgbClr val="1A2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venir Next"/>
              </a:rPr>
              <a:t>🎮    Jocul se blochează    —    exact în finală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108960"/>
            <a:ext cx="7315200" cy="960120"/>
          </a:xfrm>
          <a:prstGeom prst="roundRect">
            <a:avLst>
              <a:gd name="adj" fmla="val 14000"/>
            </a:avLst>
          </a:prstGeom>
          <a:solidFill>
            <a:srgbClr val="1A2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venir Next"/>
              </a:rPr>
              <a:t>📱    Story-ul nu urcă    —    like-ul „dispare”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4206240"/>
            <a:ext cx="7315200" cy="960120"/>
          </a:xfrm>
          <a:prstGeom prst="roundRect">
            <a:avLst>
              <a:gd name="adj" fmla="val 14000"/>
            </a:avLst>
          </a:prstGeom>
          <a:solidFill>
            <a:srgbClr val="1A2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venir Next"/>
              </a:rPr>
              <a:t>📚    Catalog online greșit    —    nota e aiurea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5303520"/>
            <a:ext cx="7315200" cy="960120"/>
          </a:xfrm>
          <a:prstGeom prst="roundRect">
            <a:avLst>
              <a:gd name="adj" fmla="val 14000"/>
            </a:avLst>
          </a:prstGeom>
          <a:solidFill>
            <a:srgbClr val="1A2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venir Next"/>
              </a:rPr>
              <a:t>🎵    Melodia / video-ul sare    —    sau se blochează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32004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F0C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3D4A"/>
                </a:solidFill>
                <a:latin typeface="Avenir Next"/>
              </a:rPr>
              <a:t>⚡  POWER-UPS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Georgia"/>
              </a:rPr>
              <a:t>Azi ați deblocat astea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2743200" cy="4114800"/>
          </a:xfrm>
          <a:prstGeom prst="roundRect">
            <a:avLst>
              <a:gd name="adj" fmla="val 14000"/>
            </a:avLst>
          </a:prstGeom>
          <a:solidFill>
            <a:srgbClr val="3A9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  <a:latin typeface="Avenir Next"/>
              </a:rPr>
              <a:t>🔎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Ochi de vultur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E8F6F4"/>
                </a:solidFill>
                <a:latin typeface="Avenir Next"/>
              </a:rPr>
              <a:t>Vezi ce nu se potrivește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2103120"/>
            <a:ext cx="2743200" cy="4114800"/>
          </a:xfrm>
          <a:prstGeom prst="roundRect">
            <a:avLst>
              <a:gd name="adj" fmla="val 14000"/>
            </a:avLst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  <a:latin typeface="Avenir Next"/>
              </a:rPr>
              <a:t>🧩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Detective mode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E8F6F4"/>
                </a:solidFill>
                <a:latin typeface="Avenir Next"/>
              </a:rPr>
              <a:t>„Hmm… ciudat”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03120"/>
            <a:ext cx="2743200" cy="4114800"/>
          </a:xfrm>
          <a:prstGeom prst="roundRect">
            <a:avLst>
              <a:gd name="adj" fmla="val 14000"/>
            </a:avLst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  <a:latin typeface="Avenir Next"/>
              </a:rPr>
              <a:t>🗣️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Raport clar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E8F6F4"/>
                </a:solidFill>
                <a:latin typeface="Avenir Next"/>
              </a:rPr>
              <a:t>Alții înțeleg din prima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103120"/>
            <a:ext cx="2743200" cy="4114800"/>
          </a:xfrm>
          <a:prstGeom prst="roundRect">
            <a:avLst>
              <a:gd name="adj" fmla="val 14000"/>
            </a:avLst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  <a:latin typeface="Avenir Next"/>
              </a:rPr>
              <a:t>💪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Retry power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E8F6F4"/>
                </a:solidFill>
                <a:latin typeface="Avenir Next"/>
              </a:rPr>
              <a:t>Greșeala nu te oprește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32004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venir Next"/>
              </a:rPr>
              <a:t>🗺️  NEXT LEVEL?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0B3D4A"/>
                </a:solidFill>
                <a:latin typeface="Georgia"/>
              </a:rPr>
              <a:t>Ți-a plăcut să cauți greșeli?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A6E72"/>
                </a:solidFill>
                <a:latin typeface="Avenir Next"/>
              </a:rPr>
              <a:t>Fără presiune. Doar curiozitate. (E o meserie reală.)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2148840"/>
            <a:ext cx="4846320" cy="777240"/>
          </a:xfrm>
          <a:prstGeom prst="roundRect">
            <a:avLst>
              <a:gd name="adj" fmla="val 45000"/>
            </a:avLst>
          </a:prstGeom>
          <a:solidFill>
            <a:srgbClr val="F0C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3D4A"/>
                </a:solidFill>
                <a:latin typeface="Georgia"/>
              </a:rPr>
              <a:t>🕵️   Ție ți-a plăcut?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5212080" cy="31089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1A2B2E"/>
                </a:solidFill>
                <a:latin typeface="Avenir Next"/>
              </a:rPr>
              <a:t>🐞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3200" b="1">
                <a:solidFill>
                  <a:srgbClr val="1A6B7A"/>
                </a:solidFill>
                <a:latin typeface="Georgia"/>
              </a:rPr>
              <a:t>QA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600" b="0">
                <a:solidFill>
                  <a:srgbClr val="5A6E72"/>
                </a:solidFill>
                <a:latin typeface="Avenir Next"/>
              </a:rPr>
              <a:t>Pui aplicația la încercare
— înaintea tuturor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200400"/>
            <a:ext cx="5212080" cy="3108960"/>
          </a:xfrm>
          <a:prstGeom prst="roundRect">
            <a:avLst>
              <a:gd name="adj" fmla="val 14000"/>
            </a:avLst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FFFFFF"/>
                </a:solidFill>
                <a:latin typeface="Avenir Next"/>
              </a:rPr>
              <a:t>👩‍💻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2600" b="1">
                <a:solidFill>
                  <a:srgbClr val="F0C75E"/>
                </a:solidFill>
                <a:latin typeface="Georgia"/>
              </a:rPr>
              <a:t>sau altceva în IT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600" b="0">
                <a:solidFill>
                  <a:srgbClr val="E8F6F4"/>
                </a:solidFill>
                <a:latin typeface="Avenir Next"/>
              </a:rPr>
              <a:t>Curiozitatea rămâne
arma ta secretă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60520" y="91440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F0C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3D4A"/>
                </a:solidFill>
                <a:latin typeface="Avenir Next"/>
              </a:rPr>
              <a:t>🏁  FINAL BOSS DEFEATED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Georgia"/>
              </a:rPr>
              <a:t>Misiune îndeplinită!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97480"/>
            <a:ext cx="9418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E8F6F4"/>
                </a:solidFill>
                <a:latin typeface="Avenir Next"/>
              </a:rPr>
              <a:t>Detectivii Insulei au închis cazul.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3566160"/>
            <a:ext cx="6858000" cy="960120"/>
          </a:xfrm>
          <a:prstGeom prst="roundRect">
            <a:avLst>
              <a:gd name="adj" fmla="val 45000"/>
            </a:avLst>
          </a:prstGeom>
          <a:solidFill>
            <a:srgbClr val="F0C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3D4A"/>
                </a:solidFill>
                <a:latin typeface="Georgia"/>
              </a:rPr>
              <a:t>🎖️   Junior QA — Insula după furtună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4892040"/>
            <a:ext cx="3291840" cy="868680"/>
          </a:xfrm>
          <a:prstGeom prst="roundRect">
            <a:avLst>
              <a:gd name="adj" fmla="val 50000"/>
            </a:avLst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Întrebări?  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